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1"/>
  </p:notesMasterIdLst>
  <p:sldIdLst>
    <p:sldId id="325" r:id="rId2"/>
    <p:sldId id="327" r:id="rId3"/>
    <p:sldId id="258" r:id="rId4"/>
    <p:sldId id="326" r:id="rId5"/>
    <p:sldId id="259" r:id="rId6"/>
    <p:sldId id="260" r:id="rId7"/>
    <p:sldId id="310" r:id="rId8"/>
    <p:sldId id="324" r:id="rId9"/>
    <p:sldId id="311" r:id="rId10"/>
    <p:sldId id="305" r:id="rId11"/>
    <p:sldId id="312" r:id="rId12"/>
    <p:sldId id="317" r:id="rId13"/>
    <p:sldId id="313" r:id="rId14"/>
    <p:sldId id="314" r:id="rId15"/>
    <p:sldId id="315" r:id="rId16"/>
    <p:sldId id="316" r:id="rId17"/>
    <p:sldId id="320" r:id="rId18"/>
    <p:sldId id="321" r:id="rId19"/>
    <p:sldId id="322" r:id="rId20"/>
  </p:sldIdLst>
  <p:sldSz cx="9144000" cy="5143500" type="screen16x9"/>
  <p:notesSz cx="6858000" cy="9144000"/>
  <p:embeddedFontLst>
    <p:embeddedFont>
      <p:font typeface="Abel" panose="02000506030000020004" pitchFamily="2" charset="0"/>
      <p:regular r:id="rId22"/>
    </p:embeddedFont>
    <p:embeddedFont>
      <p:font typeface="Barlow Semi Condensed" panose="00000506000000000000" pitchFamily="2" charset="0"/>
      <p:regular r:id="rId23"/>
      <p:bold r:id="rId24"/>
      <p:italic r:id="rId25"/>
      <p:boldItalic r:id="rId26"/>
    </p:embeddedFont>
    <p:embeddedFont>
      <p:font typeface="Barlow Semi Condensed Medium" panose="00000606000000000000" pitchFamily="2" charset="0"/>
      <p:regular r:id="rId27"/>
      <p:bold r:id="rId28"/>
      <p:italic r:id="rId29"/>
      <p:boldItalic r:id="rId30"/>
    </p:embeddedFont>
    <p:embeddedFont>
      <p:font typeface="Bookman Old Style" panose="02050604050505020204" pitchFamily="18" charset="0"/>
      <p:regular r:id="rId31"/>
      <p:bold r:id="rId32"/>
      <p:italic r:id="rId33"/>
      <p:boldItalic r:id="rId34"/>
    </p:embeddedFont>
    <p:embeddedFont>
      <p:font typeface="Calibri" panose="020F0502020204030204" pitchFamily="34" charset="0"/>
      <p:regular r:id="rId35"/>
      <p:bold r:id="rId36"/>
      <p:italic r:id="rId37"/>
      <p:boldItalic r:id="rId38"/>
    </p:embeddedFont>
    <p:embeddedFont>
      <p:font typeface="Fjalla One" panose="02000506040000020004" pitchFamily="2" charset="0"/>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44618CC-6675-4617-BEC8-F6FBB7F5266B}">
  <a:tblStyle styleId="{144618CC-6675-4617-BEC8-F6FBB7F5266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612"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84538216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9" r:id="rId5"/>
    <p:sldLayoutId id="2147483673" r:id="rId6"/>
    <p:sldLayoutId id="214748367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simplilearn.com/tutorials/blockchain-tutorial/blockchain-technology" TargetMode="External"/><Relationship Id="rId2" Type="http://schemas.openxmlformats.org/officeDocument/2006/relationships/hyperlink" Target="https://www.simplilearn.com/tutorials/blockchain-tutorial/what-is-cryptocurrency"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A4D50-59E6-C1B4-8624-4029CE5A1BC6}"/>
              </a:ext>
            </a:extLst>
          </p:cNvPr>
          <p:cNvSpPr>
            <a:spLocks noGrp="1"/>
          </p:cNvSpPr>
          <p:nvPr>
            <p:ph type="ctrTitle"/>
          </p:nvPr>
        </p:nvSpPr>
        <p:spPr>
          <a:xfrm>
            <a:off x="4044382" y="1439295"/>
            <a:ext cx="5051540" cy="1750800"/>
          </a:xfrm>
        </p:spPr>
        <p:txBody>
          <a:bodyPr/>
          <a:lstStyle/>
          <a:p>
            <a:r>
              <a:rPr lang="en-IN" dirty="0"/>
              <a:t>NFT Sales Analytics </a:t>
            </a:r>
            <a:br>
              <a:rPr lang="en-IN" dirty="0"/>
            </a:br>
            <a:r>
              <a:rPr lang="en-IN" dirty="0"/>
              <a:t>Dashboard</a:t>
            </a:r>
          </a:p>
        </p:txBody>
      </p:sp>
      <p:sp>
        <p:nvSpPr>
          <p:cNvPr id="3" name="Subtitle 2">
            <a:extLst>
              <a:ext uri="{FF2B5EF4-FFF2-40B4-BE49-F238E27FC236}">
                <a16:creationId xmlns:a16="http://schemas.microsoft.com/office/drawing/2014/main" id="{9D87CA54-C2DB-AF56-3F66-5537DA3C3862}"/>
              </a:ext>
            </a:extLst>
          </p:cNvPr>
          <p:cNvSpPr>
            <a:spLocks noGrp="1"/>
          </p:cNvSpPr>
          <p:nvPr>
            <p:ph type="subTitle" idx="1"/>
          </p:nvPr>
        </p:nvSpPr>
        <p:spPr>
          <a:xfrm>
            <a:off x="5475900" y="3978032"/>
            <a:ext cx="3521478" cy="896100"/>
          </a:xfrm>
        </p:spPr>
        <p:txBody>
          <a:bodyPr/>
          <a:lstStyle/>
          <a:p>
            <a:r>
              <a:rPr lang="en-IN" sz="4400" dirty="0">
                <a:solidFill>
                  <a:schemeClr val="tx1"/>
                </a:solidFill>
              </a:rPr>
              <a:t>By:   IT TECHTS</a:t>
            </a:r>
          </a:p>
          <a:p>
            <a:endParaRPr lang="en-IN" dirty="0"/>
          </a:p>
        </p:txBody>
      </p:sp>
      <p:grpSp>
        <p:nvGrpSpPr>
          <p:cNvPr id="4" name="Google Shape;1690;p35">
            <a:extLst>
              <a:ext uri="{FF2B5EF4-FFF2-40B4-BE49-F238E27FC236}">
                <a16:creationId xmlns:a16="http://schemas.microsoft.com/office/drawing/2014/main" id="{96407108-3A25-2DD9-AF83-45AE35BBC71F}"/>
              </a:ext>
            </a:extLst>
          </p:cNvPr>
          <p:cNvGrpSpPr/>
          <p:nvPr/>
        </p:nvGrpSpPr>
        <p:grpSpPr>
          <a:xfrm>
            <a:off x="146622" y="927796"/>
            <a:ext cx="5343540" cy="4183680"/>
            <a:chOff x="469775" y="238125"/>
            <a:chExt cx="6679425" cy="5229600"/>
          </a:xfrm>
        </p:grpSpPr>
        <p:sp>
          <p:nvSpPr>
            <p:cNvPr id="5" name="Google Shape;1691;p35">
              <a:extLst>
                <a:ext uri="{FF2B5EF4-FFF2-40B4-BE49-F238E27FC236}">
                  <a16:creationId xmlns:a16="http://schemas.microsoft.com/office/drawing/2014/main" id="{BD0E23BA-73C5-2F4F-D885-218D28F6BA71}"/>
                </a:ext>
              </a:extLst>
            </p:cNvPr>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92;p35">
              <a:extLst>
                <a:ext uri="{FF2B5EF4-FFF2-40B4-BE49-F238E27FC236}">
                  <a16:creationId xmlns:a16="http://schemas.microsoft.com/office/drawing/2014/main" id="{D9274CD6-30BB-2C90-644E-25EED06CEC98}"/>
                </a:ext>
              </a:extLst>
            </p:cNvPr>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93;p35">
              <a:extLst>
                <a:ext uri="{FF2B5EF4-FFF2-40B4-BE49-F238E27FC236}">
                  <a16:creationId xmlns:a16="http://schemas.microsoft.com/office/drawing/2014/main" id="{458DE37D-069C-9684-3E39-053CC1C12BF5}"/>
                </a:ext>
              </a:extLst>
            </p:cNvPr>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694;p35">
              <a:extLst>
                <a:ext uri="{FF2B5EF4-FFF2-40B4-BE49-F238E27FC236}">
                  <a16:creationId xmlns:a16="http://schemas.microsoft.com/office/drawing/2014/main" id="{0B6A848E-136F-AD85-809D-71065BA20AEA}"/>
                </a:ext>
              </a:extLst>
            </p:cNvPr>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95;p35">
              <a:extLst>
                <a:ext uri="{FF2B5EF4-FFF2-40B4-BE49-F238E27FC236}">
                  <a16:creationId xmlns:a16="http://schemas.microsoft.com/office/drawing/2014/main" id="{7342F40C-6330-0C13-00BA-03F77778F86D}"/>
                </a:ext>
              </a:extLst>
            </p:cNvPr>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696;p35">
              <a:extLst>
                <a:ext uri="{FF2B5EF4-FFF2-40B4-BE49-F238E27FC236}">
                  <a16:creationId xmlns:a16="http://schemas.microsoft.com/office/drawing/2014/main" id="{DF316EB9-E9C6-EDEB-9180-D630842EB45F}"/>
                </a:ext>
              </a:extLst>
            </p:cNvPr>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97;p35">
              <a:extLst>
                <a:ext uri="{FF2B5EF4-FFF2-40B4-BE49-F238E27FC236}">
                  <a16:creationId xmlns:a16="http://schemas.microsoft.com/office/drawing/2014/main" id="{A70D61D6-29A7-AFBE-13BC-3BB3A4730355}"/>
                </a:ext>
              </a:extLst>
            </p:cNvPr>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98;p35">
              <a:extLst>
                <a:ext uri="{FF2B5EF4-FFF2-40B4-BE49-F238E27FC236}">
                  <a16:creationId xmlns:a16="http://schemas.microsoft.com/office/drawing/2014/main" id="{917DB62D-00D5-1D60-C1F1-5C48127C1703}"/>
                </a:ext>
              </a:extLst>
            </p:cNvPr>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99;p35">
              <a:extLst>
                <a:ext uri="{FF2B5EF4-FFF2-40B4-BE49-F238E27FC236}">
                  <a16:creationId xmlns:a16="http://schemas.microsoft.com/office/drawing/2014/main" id="{DE1A67BE-8E1E-7F27-D710-A53EC660A2EA}"/>
                </a:ext>
              </a:extLst>
            </p:cNvPr>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00;p35">
              <a:extLst>
                <a:ext uri="{FF2B5EF4-FFF2-40B4-BE49-F238E27FC236}">
                  <a16:creationId xmlns:a16="http://schemas.microsoft.com/office/drawing/2014/main" id="{78EC1538-3456-F23C-B4DF-D2BDAD7F9C1F}"/>
                </a:ext>
              </a:extLst>
            </p:cNvPr>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01;p35">
              <a:extLst>
                <a:ext uri="{FF2B5EF4-FFF2-40B4-BE49-F238E27FC236}">
                  <a16:creationId xmlns:a16="http://schemas.microsoft.com/office/drawing/2014/main" id="{1704BA12-4FF9-76CE-A25A-AD8F583E8B80}"/>
                </a:ext>
              </a:extLst>
            </p:cNvPr>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02;p35">
              <a:extLst>
                <a:ext uri="{FF2B5EF4-FFF2-40B4-BE49-F238E27FC236}">
                  <a16:creationId xmlns:a16="http://schemas.microsoft.com/office/drawing/2014/main" id="{8CA48A27-0C3B-E58E-2A48-72A6A0AF43D6}"/>
                </a:ext>
              </a:extLst>
            </p:cNvPr>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03;p35">
              <a:extLst>
                <a:ext uri="{FF2B5EF4-FFF2-40B4-BE49-F238E27FC236}">
                  <a16:creationId xmlns:a16="http://schemas.microsoft.com/office/drawing/2014/main" id="{0A42B919-4889-765F-196D-28AD046C1507}"/>
                </a:ext>
              </a:extLst>
            </p:cNvPr>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04;p35">
              <a:extLst>
                <a:ext uri="{FF2B5EF4-FFF2-40B4-BE49-F238E27FC236}">
                  <a16:creationId xmlns:a16="http://schemas.microsoft.com/office/drawing/2014/main" id="{4C63EF90-24ED-0E61-9190-4C83BEE5A33D}"/>
                </a:ext>
              </a:extLst>
            </p:cNvPr>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05;p35">
              <a:extLst>
                <a:ext uri="{FF2B5EF4-FFF2-40B4-BE49-F238E27FC236}">
                  <a16:creationId xmlns:a16="http://schemas.microsoft.com/office/drawing/2014/main" id="{F3F70DD0-F3E3-E27F-3DA3-72BCDF349B17}"/>
                </a:ext>
              </a:extLst>
            </p:cNvPr>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06;p35">
              <a:extLst>
                <a:ext uri="{FF2B5EF4-FFF2-40B4-BE49-F238E27FC236}">
                  <a16:creationId xmlns:a16="http://schemas.microsoft.com/office/drawing/2014/main" id="{169A2A0F-FD62-6794-6E5E-CD27F2D2FC21}"/>
                </a:ext>
              </a:extLst>
            </p:cNvPr>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07;p35">
              <a:extLst>
                <a:ext uri="{FF2B5EF4-FFF2-40B4-BE49-F238E27FC236}">
                  <a16:creationId xmlns:a16="http://schemas.microsoft.com/office/drawing/2014/main" id="{C75BA655-CBEC-D475-1DF0-6E218A308DE1}"/>
                </a:ext>
              </a:extLst>
            </p:cNvPr>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08;p35">
              <a:extLst>
                <a:ext uri="{FF2B5EF4-FFF2-40B4-BE49-F238E27FC236}">
                  <a16:creationId xmlns:a16="http://schemas.microsoft.com/office/drawing/2014/main" id="{7A8A3C4E-7107-F1E8-A8AB-90A929FA7C06}"/>
                </a:ext>
              </a:extLst>
            </p:cNvPr>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09;p35">
              <a:extLst>
                <a:ext uri="{FF2B5EF4-FFF2-40B4-BE49-F238E27FC236}">
                  <a16:creationId xmlns:a16="http://schemas.microsoft.com/office/drawing/2014/main" id="{D2DCACE6-D91D-F341-BEF7-0F6C5BD1C1B3}"/>
                </a:ext>
              </a:extLst>
            </p:cNvPr>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10;p35">
              <a:extLst>
                <a:ext uri="{FF2B5EF4-FFF2-40B4-BE49-F238E27FC236}">
                  <a16:creationId xmlns:a16="http://schemas.microsoft.com/office/drawing/2014/main" id="{963D4DE7-DED0-AA25-A3B3-B61666C13AC9}"/>
                </a:ext>
              </a:extLst>
            </p:cNvPr>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11;p35">
              <a:extLst>
                <a:ext uri="{FF2B5EF4-FFF2-40B4-BE49-F238E27FC236}">
                  <a16:creationId xmlns:a16="http://schemas.microsoft.com/office/drawing/2014/main" id="{5D1EC8F3-32F5-A281-4669-B63D1035C06A}"/>
                </a:ext>
              </a:extLst>
            </p:cNvPr>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12;p35">
              <a:extLst>
                <a:ext uri="{FF2B5EF4-FFF2-40B4-BE49-F238E27FC236}">
                  <a16:creationId xmlns:a16="http://schemas.microsoft.com/office/drawing/2014/main" id="{26CDD86D-6707-0E95-E6F7-E54F1EE0E6C8}"/>
                </a:ext>
              </a:extLst>
            </p:cNvPr>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13;p35">
              <a:extLst>
                <a:ext uri="{FF2B5EF4-FFF2-40B4-BE49-F238E27FC236}">
                  <a16:creationId xmlns:a16="http://schemas.microsoft.com/office/drawing/2014/main" id="{B68722B4-C322-EC7C-2978-8F9022994920}"/>
                </a:ext>
              </a:extLst>
            </p:cNvPr>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14;p35">
              <a:extLst>
                <a:ext uri="{FF2B5EF4-FFF2-40B4-BE49-F238E27FC236}">
                  <a16:creationId xmlns:a16="http://schemas.microsoft.com/office/drawing/2014/main" id="{CC34A7C5-F4E8-3306-CE3D-2660DA9D9C90}"/>
                </a:ext>
              </a:extLst>
            </p:cNvPr>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15;p35">
              <a:extLst>
                <a:ext uri="{FF2B5EF4-FFF2-40B4-BE49-F238E27FC236}">
                  <a16:creationId xmlns:a16="http://schemas.microsoft.com/office/drawing/2014/main" id="{446EB9CE-8E5F-78BA-E9D4-C869996E9306}"/>
                </a:ext>
              </a:extLst>
            </p:cNvPr>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16;p35">
              <a:extLst>
                <a:ext uri="{FF2B5EF4-FFF2-40B4-BE49-F238E27FC236}">
                  <a16:creationId xmlns:a16="http://schemas.microsoft.com/office/drawing/2014/main" id="{0A658518-058E-EE3E-7375-7287DE7071CF}"/>
                </a:ext>
              </a:extLst>
            </p:cNvPr>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17;p35">
              <a:extLst>
                <a:ext uri="{FF2B5EF4-FFF2-40B4-BE49-F238E27FC236}">
                  <a16:creationId xmlns:a16="http://schemas.microsoft.com/office/drawing/2014/main" id="{9A458FD7-C1EB-4F89-6953-4467E3E368D4}"/>
                </a:ext>
              </a:extLst>
            </p:cNvPr>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18;p35">
              <a:extLst>
                <a:ext uri="{FF2B5EF4-FFF2-40B4-BE49-F238E27FC236}">
                  <a16:creationId xmlns:a16="http://schemas.microsoft.com/office/drawing/2014/main" id="{4AEAC927-D072-4ECC-621B-EBB9B180C320}"/>
                </a:ext>
              </a:extLst>
            </p:cNvPr>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19;p35">
              <a:extLst>
                <a:ext uri="{FF2B5EF4-FFF2-40B4-BE49-F238E27FC236}">
                  <a16:creationId xmlns:a16="http://schemas.microsoft.com/office/drawing/2014/main" id="{AC712FCD-4F07-BDFB-76A5-D9FD29E63DFA}"/>
                </a:ext>
              </a:extLst>
            </p:cNvPr>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20;p35">
              <a:extLst>
                <a:ext uri="{FF2B5EF4-FFF2-40B4-BE49-F238E27FC236}">
                  <a16:creationId xmlns:a16="http://schemas.microsoft.com/office/drawing/2014/main" id="{EB9D7DE0-8714-CA44-2808-3058A210714F}"/>
                </a:ext>
              </a:extLst>
            </p:cNvPr>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21;p35">
              <a:extLst>
                <a:ext uri="{FF2B5EF4-FFF2-40B4-BE49-F238E27FC236}">
                  <a16:creationId xmlns:a16="http://schemas.microsoft.com/office/drawing/2014/main" id="{31EFE4BF-0C5E-794A-7C17-6A4C719AA5A3}"/>
                </a:ext>
              </a:extLst>
            </p:cNvPr>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22;p35">
              <a:extLst>
                <a:ext uri="{FF2B5EF4-FFF2-40B4-BE49-F238E27FC236}">
                  <a16:creationId xmlns:a16="http://schemas.microsoft.com/office/drawing/2014/main" id="{4E96893B-EEC0-F17C-979D-408BC7F22B37}"/>
                </a:ext>
              </a:extLst>
            </p:cNvPr>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23;p35">
              <a:extLst>
                <a:ext uri="{FF2B5EF4-FFF2-40B4-BE49-F238E27FC236}">
                  <a16:creationId xmlns:a16="http://schemas.microsoft.com/office/drawing/2014/main" id="{F3B1C82E-FC0C-08B3-70A0-59E9E9693AA1}"/>
                </a:ext>
              </a:extLst>
            </p:cNvPr>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724;p35">
              <a:extLst>
                <a:ext uri="{FF2B5EF4-FFF2-40B4-BE49-F238E27FC236}">
                  <a16:creationId xmlns:a16="http://schemas.microsoft.com/office/drawing/2014/main" id="{0FA503E5-D507-77ED-5759-FEA78A86F638}"/>
                </a:ext>
              </a:extLst>
            </p:cNvPr>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25;p35">
              <a:extLst>
                <a:ext uri="{FF2B5EF4-FFF2-40B4-BE49-F238E27FC236}">
                  <a16:creationId xmlns:a16="http://schemas.microsoft.com/office/drawing/2014/main" id="{7B228AEC-8FF8-1DA0-3213-09758302F5FF}"/>
                </a:ext>
              </a:extLst>
            </p:cNvPr>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726;p35">
              <a:extLst>
                <a:ext uri="{FF2B5EF4-FFF2-40B4-BE49-F238E27FC236}">
                  <a16:creationId xmlns:a16="http://schemas.microsoft.com/office/drawing/2014/main" id="{A0AC6DFA-5C01-71AD-BD01-34BF25F932F2}"/>
                </a:ext>
              </a:extLst>
            </p:cNvPr>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727;p35">
              <a:extLst>
                <a:ext uri="{FF2B5EF4-FFF2-40B4-BE49-F238E27FC236}">
                  <a16:creationId xmlns:a16="http://schemas.microsoft.com/office/drawing/2014/main" id="{8DE0A7F6-8A02-ECF1-59D2-83F76858A0AC}"/>
                </a:ext>
              </a:extLst>
            </p:cNvPr>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728;p35">
              <a:extLst>
                <a:ext uri="{FF2B5EF4-FFF2-40B4-BE49-F238E27FC236}">
                  <a16:creationId xmlns:a16="http://schemas.microsoft.com/office/drawing/2014/main" id="{D4EE8EDB-EE36-55D6-B983-E57675D740AC}"/>
                </a:ext>
              </a:extLst>
            </p:cNvPr>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729;p35">
              <a:extLst>
                <a:ext uri="{FF2B5EF4-FFF2-40B4-BE49-F238E27FC236}">
                  <a16:creationId xmlns:a16="http://schemas.microsoft.com/office/drawing/2014/main" id="{BFAC0745-EEC1-C5E1-A614-5576D4CB4977}"/>
                </a:ext>
              </a:extLst>
            </p:cNvPr>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730;p35">
              <a:extLst>
                <a:ext uri="{FF2B5EF4-FFF2-40B4-BE49-F238E27FC236}">
                  <a16:creationId xmlns:a16="http://schemas.microsoft.com/office/drawing/2014/main" id="{36108DDB-FE25-1B50-F1A1-49FC5CCC5CF6}"/>
                </a:ext>
              </a:extLst>
            </p:cNvPr>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731;p35">
              <a:extLst>
                <a:ext uri="{FF2B5EF4-FFF2-40B4-BE49-F238E27FC236}">
                  <a16:creationId xmlns:a16="http://schemas.microsoft.com/office/drawing/2014/main" id="{C034DD01-DE28-D3B0-BB2C-A18EEBFA7151}"/>
                </a:ext>
              </a:extLst>
            </p:cNvPr>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732;p35">
              <a:extLst>
                <a:ext uri="{FF2B5EF4-FFF2-40B4-BE49-F238E27FC236}">
                  <a16:creationId xmlns:a16="http://schemas.microsoft.com/office/drawing/2014/main" id="{6D60CE42-205E-A410-7CFD-FC39211D9C98}"/>
                </a:ext>
              </a:extLst>
            </p:cNvPr>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733;p35">
              <a:extLst>
                <a:ext uri="{FF2B5EF4-FFF2-40B4-BE49-F238E27FC236}">
                  <a16:creationId xmlns:a16="http://schemas.microsoft.com/office/drawing/2014/main" id="{6FDDE4D9-2123-E60C-7169-9674728D4E42}"/>
                </a:ext>
              </a:extLst>
            </p:cNvPr>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734;p35">
              <a:extLst>
                <a:ext uri="{FF2B5EF4-FFF2-40B4-BE49-F238E27FC236}">
                  <a16:creationId xmlns:a16="http://schemas.microsoft.com/office/drawing/2014/main" id="{0F3922A7-66C5-5224-B5FA-09B38E0B8D19}"/>
                </a:ext>
              </a:extLst>
            </p:cNvPr>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735;p35">
              <a:extLst>
                <a:ext uri="{FF2B5EF4-FFF2-40B4-BE49-F238E27FC236}">
                  <a16:creationId xmlns:a16="http://schemas.microsoft.com/office/drawing/2014/main" id="{1622FF9A-3AA7-4FFC-C36D-E382E7796F5A}"/>
                </a:ext>
              </a:extLst>
            </p:cNvPr>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736;p35">
              <a:extLst>
                <a:ext uri="{FF2B5EF4-FFF2-40B4-BE49-F238E27FC236}">
                  <a16:creationId xmlns:a16="http://schemas.microsoft.com/office/drawing/2014/main" id="{C1250578-AC0C-A921-052E-8B0CF8385BCB}"/>
                </a:ext>
              </a:extLst>
            </p:cNvPr>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737;p35">
              <a:extLst>
                <a:ext uri="{FF2B5EF4-FFF2-40B4-BE49-F238E27FC236}">
                  <a16:creationId xmlns:a16="http://schemas.microsoft.com/office/drawing/2014/main" id="{74205523-C42D-AB51-D10A-0E3E627B594C}"/>
                </a:ext>
              </a:extLst>
            </p:cNvPr>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738;p35">
              <a:extLst>
                <a:ext uri="{FF2B5EF4-FFF2-40B4-BE49-F238E27FC236}">
                  <a16:creationId xmlns:a16="http://schemas.microsoft.com/office/drawing/2014/main" id="{2452F731-7467-47B7-0C05-BE27C4F475C4}"/>
                </a:ext>
              </a:extLst>
            </p:cNvPr>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739;p35">
              <a:extLst>
                <a:ext uri="{FF2B5EF4-FFF2-40B4-BE49-F238E27FC236}">
                  <a16:creationId xmlns:a16="http://schemas.microsoft.com/office/drawing/2014/main" id="{701D47A4-C63B-6E94-2D40-D06F84BFBF57}"/>
                </a:ext>
              </a:extLst>
            </p:cNvPr>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740;p35">
              <a:extLst>
                <a:ext uri="{FF2B5EF4-FFF2-40B4-BE49-F238E27FC236}">
                  <a16:creationId xmlns:a16="http://schemas.microsoft.com/office/drawing/2014/main" id="{B1074C1F-ECC7-135D-6A95-84BED93A9861}"/>
                </a:ext>
              </a:extLst>
            </p:cNvPr>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741;p35">
              <a:extLst>
                <a:ext uri="{FF2B5EF4-FFF2-40B4-BE49-F238E27FC236}">
                  <a16:creationId xmlns:a16="http://schemas.microsoft.com/office/drawing/2014/main" id="{B8DD9A69-670F-E04E-5E79-06439503D6DB}"/>
                </a:ext>
              </a:extLst>
            </p:cNvPr>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742;p35">
              <a:extLst>
                <a:ext uri="{FF2B5EF4-FFF2-40B4-BE49-F238E27FC236}">
                  <a16:creationId xmlns:a16="http://schemas.microsoft.com/office/drawing/2014/main" id="{1D899D75-712C-AB6F-B067-1E962288B9C5}"/>
                </a:ext>
              </a:extLst>
            </p:cNvPr>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743;p35">
              <a:extLst>
                <a:ext uri="{FF2B5EF4-FFF2-40B4-BE49-F238E27FC236}">
                  <a16:creationId xmlns:a16="http://schemas.microsoft.com/office/drawing/2014/main" id="{B5A82381-9AAD-3996-BFDF-2A5294F85CEE}"/>
                </a:ext>
              </a:extLst>
            </p:cNvPr>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744;p35">
              <a:extLst>
                <a:ext uri="{FF2B5EF4-FFF2-40B4-BE49-F238E27FC236}">
                  <a16:creationId xmlns:a16="http://schemas.microsoft.com/office/drawing/2014/main" id="{74A78D75-967A-74B1-FE0B-10F0D4936BEA}"/>
                </a:ext>
              </a:extLst>
            </p:cNvPr>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745;p35">
              <a:extLst>
                <a:ext uri="{FF2B5EF4-FFF2-40B4-BE49-F238E27FC236}">
                  <a16:creationId xmlns:a16="http://schemas.microsoft.com/office/drawing/2014/main" id="{29D6B62F-48BF-92BE-7AA4-543A74B3631B}"/>
                </a:ext>
              </a:extLst>
            </p:cNvPr>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746;p35">
              <a:extLst>
                <a:ext uri="{FF2B5EF4-FFF2-40B4-BE49-F238E27FC236}">
                  <a16:creationId xmlns:a16="http://schemas.microsoft.com/office/drawing/2014/main" id="{5B094FE1-D19D-BAB1-CA00-D1C36F13448D}"/>
                </a:ext>
              </a:extLst>
            </p:cNvPr>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47;p35">
              <a:extLst>
                <a:ext uri="{FF2B5EF4-FFF2-40B4-BE49-F238E27FC236}">
                  <a16:creationId xmlns:a16="http://schemas.microsoft.com/office/drawing/2014/main" id="{A7C56589-58B9-FF4A-CF89-91AE65185442}"/>
                </a:ext>
              </a:extLst>
            </p:cNvPr>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48;p35">
              <a:extLst>
                <a:ext uri="{FF2B5EF4-FFF2-40B4-BE49-F238E27FC236}">
                  <a16:creationId xmlns:a16="http://schemas.microsoft.com/office/drawing/2014/main" id="{26C272A7-14C7-703D-526D-4C1EC55653B5}"/>
                </a:ext>
              </a:extLst>
            </p:cNvPr>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49;p35">
              <a:extLst>
                <a:ext uri="{FF2B5EF4-FFF2-40B4-BE49-F238E27FC236}">
                  <a16:creationId xmlns:a16="http://schemas.microsoft.com/office/drawing/2014/main" id="{D82FFF76-AE1A-C730-7368-8FFDC6AAB17D}"/>
                </a:ext>
              </a:extLst>
            </p:cNvPr>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750;p35">
              <a:extLst>
                <a:ext uri="{FF2B5EF4-FFF2-40B4-BE49-F238E27FC236}">
                  <a16:creationId xmlns:a16="http://schemas.microsoft.com/office/drawing/2014/main" id="{0BD2FCBD-03AD-5325-A5C2-1A3CA5E141BA}"/>
                </a:ext>
              </a:extLst>
            </p:cNvPr>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751;p35">
              <a:extLst>
                <a:ext uri="{FF2B5EF4-FFF2-40B4-BE49-F238E27FC236}">
                  <a16:creationId xmlns:a16="http://schemas.microsoft.com/office/drawing/2014/main" id="{99398FDE-2B0D-2E64-B372-8E810ED8D974}"/>
                </a:ext>
              </a:extLst>
            </p:cNvPr>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752;p35">
              <a:extLst>
                <a:ext uri="{FF2B5EF4-FFF2-40B4-BE49-F238E27FC236}">
                  <a16:creationId xmlns:a16="http://schemas.microsoft.com/office/drawing/2014/main" id="{EF6693E0-16AA-025B-CFDE-822AE7A6CD57}"/>
                </a:ext>
              </a:extLst>
            </p:cNvPr>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753;p35">
              <a:extLst>
                <a:ext uri="{FF2B5EF4-FFF2-40B4-BE49-F238E27FC236}">
                  <a16:creationId xmlns:a16="http://schemas.microsoft.com/office/drawing/2014/main" id="{5F7D3672-EDF4-CB87-3EE3-F1226DF3215C}"/>
                </a:ext>
              </a:extLst>
            </p:cNvPr>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754;p35">
              <a:extLst>
                <a:ext uri="{FF2B5EF4-FFF2-40B4-BE49-F238E27FC236}">
                  <a16:creationId xmlns:a16="http://schemas.microsoft.com/office/drawing/2014/main" id="{7A74E45E-5E6F-6273-E6A4-FE897F0D7879}"/>
                </a:ext>
              </a:extLst>
            </p:cNvPr>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755;p35">
              <a:extLst>
                <a:ext uri="{FF2B5EF4-FFF2-40B4-BE49-F238E27FC236}">
                  <a16:creationId xmlns:a16="http://schemas.microsoft.com/office/drawing/2014/main" id="{2C6ED576-4E8E-5CAB-666F-B557F95E073E}"/>
                </a:ext>
              </a:extLst>
            </p:cNvPr>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756;p35">
              <a:extLst>
                <a:ext uri="{FF2B5EF4-FFF2-40B4-BE49-F238E27FC236}">
                  <a16:creationId xmlns:a16="http://schemas.microsoft.com/office/drawing/2014/main" id="{D07D58AB-EF99-E5D5-CFF5-333A8844CC4E}"/>
                </a:ext>
              </a:extLst>
            </p:cNvPr>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757;p35">
              <a:extLst>
                <a:ext uri="{FF2B5EF4-FFF2-40B4-BE49-F238E27FC236}">
                  <a16:creationId xmlns:a16="http://schemas.microsoft.com/office/drawing/2014/main" id="{716F55E2-079B-D20C-54A9-C1722EE27478}"/>
                </a:ext>
              </a:extLst>
            </p:cNvPr>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758;p35">
              <a:extLst>
                <a:ext uri="{FF2B5EF4-FFF2-40B4-BE49-F238E27FC236}">
                  <a16:creationId xmlns:a16="http://schemas.microsoft.com/office/drawing/2014/main" id="{45632EDC-0BE1-1797-9D39-32766082B84F}"/>
                </a:ext>
              </a:extLst>
            </p:cNvPr>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759;p35">
              <a:extLst>
                <a:ext uri="{FF2B5EF4-FFF2-40B4-BE49-F238E27FC236}">
                  <a16:creationId xmlns:a16="http://schemas.microsoft.com/office/drawing/2014/main" id="{7D77F657-DEB3-B0BA-E5B6-9D5DA59EDF6A}"/>
                </a:ext>
              </a:extLst>
            </p:cNvPr>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760;p35">
              <a:extLst>
                <a:ext uri="{FF2B5EF4-FFF2-40B4-BE49-F238E27FC236}">
                  <a16:creationId xmlns:a16="http://schemas.microsoft.com/office/drawing/2014/main" id="{8457CC6B-4D41-BB52-938A-899E66AB50A3}"/>
                </a:ext>
              </a:extLst>
            </p:cNvPr>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761;p35">
              <a:extLst>
                <a:ext uri="{FF2B5EF4-FFF2-40B4-BE49-F238E27FC236}">
                  <a16:creationId xmlns:a16="http://schemas.microsoft.com/office/drawing/2014/main" id="{BA85BB31-C3AC-A27F-EEA7-830462D3086E}"/>
                </a:ext>
              </a:extLst>
            </p:cNvPr>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762;p35">
              <a:extLst>
                <a:ext uri="{FF2B5EF4-FFF2-40B4-BE49-F238E27FC236}">
                  <a16:creationId xmlns:a16="http://schemas.microsoft.com/office/drawing/2014/main" id="{8E1B8738-6804-9A4F-C9B1-D216CF303E6A}"/>
                </a:ext>
              </a:extLst>
            </p:cNvPr>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763;p35">
              <a:extLst>
                <a:ext uri="{FF2B5EF4-FFF2-40B4-BE49-F238E27FC236}">
                  <a16:creationId xmlns:a16="http://schemas.microsoft.com/office/drawing/2014/main" id="{52C649CC-DE6D-1CCF-1C24-6951414C2879}"/>
                </a:ext>
              </a:extLst>
            </p:cNvPr>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764;p35">
              <a:extLst>
                <a:ext uri="{FF2B5EF4-FFF2-40B4-BE49-F238E27FC236}">
                  <a16:creationId xmlns:a16="http://schemas.microsoft.com/office/drawing/2014/main" id="{0063E477-9315-8FF9-956C-5CF3236E6574}"/>
                </a:ext>
              </a:extLst>
            </p:cNvPr>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765;p35">
              <a:extLst>
                <a:ext uri="{FF2B5EF4-FFF2-40B4-BE49-F238E27FC236}">
                  <a16:creationId xmlns:a16="http://schemas.microsoft.com/office/drawing/2014/main" id="{5A33F5CA-C723-A08B-3E11-2C0F7A7C38DE}"/>
                </a:ext>
              </a:extLst>
            </p:cNvPr>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766;p35">
              <a:extLst>
                <a:ext uri="{FF2B5EF4-FFF2-40B4-BE49-F238E27FC236}">
                  <a16:creationId xmlns:a16="http://schemas.microsoft.com/office/drawing/2014/main" id="{B90320F2-F5B5-6996-B913-E6FBC89B6E57}"/>
                </a:ext>
              </a:extLst>
            </p:cNvPr>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767;p35">
              <a:extLst>
                <a:ext uri="{FF2B5EF4-FFF2-40B4-BE49-F238E27FC236}">
                  <a16:creationId xmlns:a16="http://schemas.microsoft.com/office/drawing/2014/main" id="{08C1E2F7-6472-CF9C-0839-873B2E2F486B}"/>
                </a:ext>
              </a:extLst>
            </p:cNvPr>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768;p35">
              <a:extLst>
                <a:ext uri="{FF2B5EF4-FFF2-40B4-BE49-F238E27FC236}">
                  <a16:creationId xmlns:a16="http://schemas.microsoft.com/office/drawing/2014/main" id="{F5C6BDC5-5F34-F763-E69A-25B33711872E}"/>
                </a:ext>
              </a:extLst>
            </p:cNvPr>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769;p35">
              <a:extLst>
                <a:ext uri="{FF2B5EF4-FFF2-40B4-BE49-F238E27FC236}">
                  <a16:creationId xmlns:a16="http://schemas.microsoft.com/office/drawing/2014/main" id="{91FEB69C-542C-5828-D06F-B3C9C487B46F}"/>
                </a:ext>
              </a:extLst>
            </p:cNvPr>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770;p35">
              <a:extLst>
                <a:ext uri="{FF2B5EF4-FFF2-40B4-BE49-F238E27FC236}">
                  <a16:creationId xmlns:a16="http://schemas.microsoft.com/office/drawing/2014/main" id="{D162EF54-5735-4C69-9D41-3EB67FBCB5D5}"/>
                </a:ext>
              </a:extLst>
            </p:cNvPr>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771;p35">
              <a:extLst>
                <a:ext uri="{FF2B5EF4-FFF2-40B4-BE49-F238E27FC236}">
                  <a16:creationId xmlns:a16="http://schemas.microsoft.com/office/drawing/2014/main" id="{7F1A8159-B2B1-5484-8C54-36700B42D8D9}"/>
                </a:ext>
              </a:extLst>
            </p:cNvPr>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772;p35">
              <a:extLst>
                <a:ext uri="{FF2B5EF4-FFF2-40B4-BE49-F238E27FC236}">
                  <a16:creationId xmlns:a16="http://schemas.microsoft.com/office/drawing/2014/main" id="{B8040AA1-08C8-E70A-9A8E-DB6A06BB050D}"/>
                </a:ext>
              </a:extLst>
            </p:cNvPr>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773;p35">
              <a:extLst>
                <a:ext uri="{FF2B5EF4-FFF2-40B4-BE49-F238E27FC236}">
                  <a16:creationId xmlns:a16="http://schemas.microsoft.com/office/drawing/2014/main" id="{64AB9D16-55AA-6BEA-44F9-455388804F34}"/>
                </a:ext>
              </a:extLst>
            </p:cNvPr>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774;p35">
              <a:extLst>
                <a:ext uri="{FF2B5EF4-FFF2-40B4-BE49-F238E27FC236}">
                  <a16:creationId xmlns:a16="http://schemas.microsoft.com/office/drawing/2014/main" id="{E22724E6-71E1-0211-4BF0-1A0D90D2CAF0}"/>
                </a:ext>
              </a:extLst>
            </p:cNvPr>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775;p35">
              <a:extLst>
                <a:ext uri="{FF2B5EF4-FFF2-40B4-BE49-F238E27FC236}">
                  <a16:creationId xmlns:a16="http://schemas.microsoft.com/office/drawing/2014/main" id="{F48A07A3-B6F1-6ECA-CF7A-86E72CC1D6D7}"/>
                </a:ext>
              </a:extLst>
            </p:cNvPr>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776;p35">
              <a:extLst>
                <a:ext uri="{FF2B5EF4-FFF2-40B4-BE49-F238E27FC236}">
                  <a16:creationId xmlns:a16="http://schemas.microsoft.com/office/drawing/2014/main" id="{FDA439CE-7D03-7516-FB4C-F5341128FFEC}"/>
                </a:ext>
              </a:extLst>
            </p:cNvPr>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777;p35">
              <a:extLst>
                <a:ext uri="{FF2B5EF4-FFF2-40B4-BE49-F238E27FC236}">
                  <a16:creationId xmlns:a16="http://schemas.microsoft.com/office/drawing/2014/main" id="{7E375C8C-D08C-23C6-6BBE-8F042E471460}"/>
                </a:ext>
              </a:extLst>
            </p:cNvPr>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778;p35">
              <a:extLst>
                <a:ext uri="{FF2B5EF4-FFF2-40B4-BE49-F238E27FC236}">
                  <a16:creationId xmlns:a16="http://schemas.microsoft.com/office/drawing/2014/main" id="{09A2070B-394B-D2F5-F195-C1E73A8DEA1E}"/>
                </a:ext>
              </a:extLst>
            </p:cNvPr>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779;p35">
              <a:extLst>
                <a:ext uri="{FF2B5EF4-FFF2-40B4-BE49-F238E27FC236}">
                  <a16:creationId xmlns:a16="http://schemas.microsoft.com/office/drawing/2014/main" id="{EAB87025-8F96-3DE3-DB66-7C25B8A0FD45}"/>
                </a:ext>
              </a:extLst>
            </p:cNvPr>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780;p35">
              <a:extLst>
                <a:ext uri="{FF2B5EF4-FFF2-40B4-BE49-F238E27FC236}">
                  <a16:creationId xmlns:a16="http://schemas.microsoft.com/office/drawing/2014/main" id="{F74F1A7F-1DBE-9D10-7E4D-210AF07B557A}"/>
                </a:ext>
              </a:extLst>
            </p:cNvPr>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781;p35">
              <a:extLst>
                <a:ext uri="{FF2B5EF4-FFF2-40B4-BE49-F238E27FC236}">
                  <a16:creationId xmlns:a16="http://schemas.microsoft.com/office/drawing/2014/main" id="{F2A4F9D9-5418-639F-C04B-947AEE9C5753}"/>
                </a:ext>
              </a:extLst>
            </p:cNvPr>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782;p35">
              <a:extLst>
                <a:ext uri="{FF2B5EF4-FFF2-40B4-BE49-F238E27FC236}">
                  <a16:creationId xmlns:a16="http://schemas.microsoft.com/office/drawing/2014/main" id="{F55066A9-EBB2-5C7D-3838-A137487B2105}"/>
                </a:ext>
              </a:extLst>
            </p:cNvPr>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783;p35">
              <a:extLst>
                <a:ext uri="{FF2B5EF4-FFF2-40B4-BE49-F238E27FC236}">
                  <a16:creationId xmlns:a16="http://schemas.microsoft.com/office/drawing/2014/main" id="{C094BABE-5D43-7A12-7DBC-7CD25AB62459}"/>
                </a:ext>
              </a:extLst>
            </p:cNvPr>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784;p35">
              <a:extLst>
                <a:ext uri="{FF2B5EF4-FFF2-40B4-BE49-F238E27FC236}">
                  <a16:creationId xmlns:a16="http://schemas.microsoft.com/office/drawing/2014/main" id="{29F5DFF9-F47B-FC32-0DA3-A573D0242752}"/>
                </a:ext>
              </a:extLst>
            </p:cNvPr>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785;p35">
              <a:extLst>
                <a:ext uri="{FF2B5EF4-FFF2-40B4-BE49-F238E27FC236}">
                  <a16:creationId xmlns:a16="http://schemas.microsoft.com/office/drawing/2014/main" id="{4AB6A669-9E7A-6311-197A-8916FCBD82C7}"/>
                </a:ext>
              </a:extLst>
            </p:cNvPr>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786;p35">
              <a:extLst>
                <a:ext uri="{FF2B5EF4-FFF2-40B4-BE49-F238E27FC236}">
                  <a16:creationId xmlns:a16="http://schemas.microsoft.com/office/drawing/2014/main" id="{3EE22D46-93E8-A23E-F4D4-C6C1BBAAD5CC}"/>
                </a:ext>
              </a:extLst>
            </p:cNvPr>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787;p35">
              <a:extLst>
                <a:ext uri="{FF2B5EF4-FFF2-40B4-BE49-F238E27FC236}">
                  <a16:creationId xmlns:a16="http://schemas.microsoft.com/office/drawing/2014/main" id="{CFE4924E-7CF0-424D-B458-36DAA22AB1E1}"/>
                </a:ext>
              </a:extLst>
            </p:cNvPr>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788;p35">
              <a:extLst>
                <a:ext uri="{FF2B5EF4-FFF2-40B4-BE49-F238E27FC236}">
                  <a16:creationId xmlns:a16="http://schemas.microsoft.com/office/drawing/2014/main" id="{63DF0CBC-0D1F-B210-C83A-AA02FAD8A6C6}"/>
                </a:ext>
              </a:extLst>
            </p:cNvPr>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789;p35">
              <a:extLst>
                <a:ext uri="{FF2B5EF4-FFF2-40B4-BE49-F238E27FC236}">
                  <a16:creationId xmlns:a16="http://schemas.microsoft.com/office/drawing/2014/main" id="{9CEC313C-A3AE-E7C3-CE99-8A2755148007}"/>
                </a:ext>
              </a:extLst>
            </p:cNvPr>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790;p35">
              <a:extLst>
                <a:ext uri="{FF2B5EF4-FFF2-40B4-BE49-F238E27FC236}">
                  <a16:creationId xmlns:a16="http://schemas.microsoft.com/office/drawing/2014/main" id="{BE780594-5749-0C16-A686-F1D51B34CB3D}"/>
                </a:ext>
              </a:extLst>
            </p:cNvPr>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791;p35">
              <a:extLst>
                <a:ext uri="{FF2B5EF4-FFF2-40B4-BE49-F238E27FC236}">
                  <a16:creationId xmlns:a16="http://schemas.microsoft.com/office/drawing/2014/main" id="{6463C18B-4CC7-3F19-79CA-4F80BC4C1AFD}"/>
                </a:ext>
              </a:extLst>
            </p:cNvPr>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792;p35">
              <a:extLst>
                <a:ext uri="{FF2B5EF4-FFF2-40B4-BE49-F238E27FC236}">
                  <a16:creationId xmlns:a16="http://schemas.microsoft.com/office/drawing/2014/main" id="{47D265B7-FF9C-7CA4-E2DD-E5C351DDAC9E}"/>
                </a:ext>
              </a:extLst>
            </p:cNvPr>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793;p35">
              <a:extLst>
                <a:ext uri="{FF2B5EF4-FFF2-40B4-BE49-F238E27FC236}">
                  <a16:creationId xmlns:a16="http://schemas.microsoft.com/office/drawing/2014/main" id="{E5CFAD54-6F17-2701-632E-B72B24BBBEE0}"/>
                </a:ext>
              </a:extLst>
            </p:cNvPr>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794;p35">
              <a:extLst>
                <a:ext uri="{FF2B5EF4-FFF2-40B4-BE49-F238E27FC236}">
                  <a16:creationId xmlns:a16="http://schemas.microsoft.com/office/drawing/2014/main" id="{76C2D842-E72B-51DE-BBFA-84416CF108AD}"/>
                </a:ext>
              </a:extLst>
            </p:cNvPr>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795;p35">
              <a:extLst>
                <a:ext uri="{FF2B5EF4-FFF2-40B4-BE49-F238E27FC236}">
                  <a16:creationId xmlns:a16="http://schemas.microsoft.com/office/drawing/2014/main" id="{E5DC4B23-661E-5740-BEFD-7A0E0C175C60}"/>
                </a:ext>
              </a:extLst>
            </p:cNvPr>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796;p35">
              <a:extLst>
                <a:ext uri="{FF2B5EF4-FFF2-40B4-BE49-F238E27FC236}">
                  <a16:creationId xmlns:a16="http://schemas.microsoft.com/office/drawing/2014/main" id="{BF18B0BE-7822-F5F3-A0D5-3EA99799BB62}"/>
                </a:ext>
              </a:extLst>
            </p:cNvPr>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797;p35">
              <a:extLst>
                <a:ext uri="{FF2B5EF4-FFF2-40B4-BE49-F238E27FC236}">
                  <a16:creationId xmlns:a16="http://schemas.microsoft.com/office/drawing/2014/main" id="{A5C842EC-CD92-7E04-C7C5-459584D58791}"/>
                </a:ext>
              </a:extLst>
            </p:cNvPr>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798;p35">
              <a:extLst>
                <a:ext uri="{FF2B5EF4-FFF2-40B4-BE49-F238E27FC236}">
                  <a16:creationId xmlns:a16="http://schemas.microsoft.com/office/drawing/2014/main" id="{D30C3CE6-FF62-CE2A-6B48-190E4A88B839}"/>
                </a:ext>
              </a:extLst>
            </p:cNvPr>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799;p35">
              <a:extLst>
                <a:ext uri="{FF2B5EF4-FFF2-40B4-BE49-F238E27FC236}">
                  <a16:creationId xmlns:a16="http://schemas.microsoft.com/office/drawing/2014/main" id="{3AD3BCAC-F1C3-456C-D3D1-24E10173B129}"/>
                </a:ext>
              </a:extLst>
            </p:cNvPr>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800;p35">
              <a:extLst>
                <a:ext uri="{FF2B5EF4-FFF2-40B4-BE49-F238E27FC236}">
                  <a16:creationId xmlns:a16="http://schemas.microsoft.com/office/drawing/2014/main" id="{E88EAA4C-2551-A56B-618D-6D517F2F8637}"/>
                </a:ext>
              </a:extLst>
            </p:cNvPr>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801;p35">
              <a:extLst>
                <a:ext uri="{FF2B5EF4-FFF2-40B4-BE49-F238E27FC236}">
                  <a16:creationId xmlns:a16="http://schemas.microsoft.com/office/drawing/2014/main" id="{4E443167-879D-9C3F-8532-69F38B9DEF8C}"/>
                </a:ext>
              </a:extLst>
            </p:cNvPr>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802;p35">
              <a:extLst>
                <a:ext uri="{FF2B5EF4-FFF2-40B4-BE49-F238E27FC236}">
                  <a16:creationId xmlns:a16="http://schemas.microsoft.com/office/drawing/2014/main" id="{EC8DEF67-0417-BC4A-EDF2-37C8B3AFB6A4}"/>
                </a:ext>
              </a:extLst>
            </p:cNvPr>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803;p35">
              <a:extLst>
                <a:ext uri="{FF2B5EF4-FFF2-40B4-BE49-F238E27FC236}">
                  <a16:creationId xmlns:a16="http://schemas.microsoft.com/office/drawing/2014/main" id="{36ED072B-9069-EB01-A87E-BF562D6F8CCB}"/>
                </a:ext>
              </a:extLst>
            </p:cNvPr>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804;p35">
              <a:extLst>
                <a:ext uri="{FF2B5EF4-FFF2-40B4-BE49-F238E27FC236}">
                  <a16:creationId xmlns:a16="http://schemas.microsoft.com/office/drawing/2014/main" id="{1086E4B5-EEA8-01D5-B955-02449286F11E}"/>
                </a:ext>
              </a:extLst>
            </p:cNvPr>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805;p35">
              <a:extLst>
                <a:ext uri="{FF2B5EF4-FFF2-40B4-BE49-F238E27FC236}">
                  <a16:creationId xmlns:a16="http://schemas.microsoft.com/office/drawing/2014/main" id="{9BEE279F-9B5C-4341-C2AB-8318F36A754F}"/>
                </a:ext>
              </a:extLst>
            </p:cNvPr>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806;p35">
              <a:extLst>
                <a:ext uri="{FF2B5EF4-FFF2-40B4-BE49-F238E27FC236}">
                  <a16:creationId xmlns:a16="http://schemas.microsoft.com/office/drawing/2014/main" id="{C3A1ADA9-C2B4-93FF-6AA5-BCAADC87A429}"/>
                </a:ext>
              </a:extLst>
            </p:cNvPr>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807;p35">
              <a:extLst>
                <a:ext uri="{FF2B5EF4-FFF2-40B4-BE49-F238E27FC236}">
                  <a16:creationId xmlns:a16="http://schemas.microsoft.com/office/drawing/2014/main" id="{D89D0F78-4E71-BE74-BC89-E165D2857830}"/>
                </a:ext>
              </a:extLst>
            </p:cNvPr>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808;p35">
              <a:extLst>
                <a:ext uri="{FF2B5EF4-FFF2-40B4-BE49-F238E27FC236}">
                  <a16:creationId xmlns:a16="http://schemas.microsoft.com/office/drawing/2014/main" id="{06A4E292-B6E6-78D4-FEB0-3E3B9FC64DF1}"/>
                </a:ext>
              </a:extLst>
            </p:cNvPr>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809;p35">
              <a:extLst>
                <a:ext uri="{FF2B5EF4-FFF2-40B4-BE49-F238E27FC236}">
                  <a16:creationId xmlns:a16="http://schemas.microsoft.com/office/drawing/2014/main" id="{FFA5DD60-A0FC-5DD7-EF43-95C0C50DED63}"/>
                </a:ext>
              </a:extLst>
            </p:cNvPr>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810;p35">
              <a:extLst>
                <a:ext uri="{FF2B5EF4-FFF2-40B4-BE49-F238E27FC236}">
                  <a16:creationId xmlns:a16="http://schemas.microsoft.com/office/drawing/2014/main" id="{31B0E3D1-006E-49CE-77B4-BCFAAD376234}"/>
                </a:ext>
              </a:extLst>
            </p:cNvPr>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811;p35">
              <a:extLst>
                <a:ext uri="{FF2B5EF4-FFF2-40B4-BE49-F238E27FC236}">
                  <a16:creationId xmlns:a16="http://schemas.microsoft.com/office/drawing/2014/main" id="{51B5BBF8-0BF6-55C4-2249-4FD850FB74D6}"/>
                </a:ext>
              </a:extLst>
            </p:cNvPr>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812;p35">
              <a:extLst>
                <a:ext uri="{FF2B5EF4-FFF2-40B4-BE49-F238E27FC236}">
                  <a16:creationId xmlns:a16="http://schemas.microsoft.com/office/drawing/2014/main" id="{68ADD7C6-247C-86B5-082D-FD6C216D164A}"/>
                </a:ext>
              </a:extLst>
            </p:cNvPr>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813;p35">
              <a:extLst>
                <a:ext uri="{FF2B5EF4-FFF2-40B4-BE49-F238E27FC236}">
                  <a16:creationId xmlns:a16="http://schemas.microsoft.com/office/drawing/2014/main" id="{F8A1953A-30D2-58B7-F1E1-2205EBC9A547}"/>
                </a:ext>
              </a:extLst>
            </p:cNvPr>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814;p35">
              <a:extLst>
                <a:ext uri="{FF2B5EF4-FFF2-40B4-BE49-F238E27FC236}">
                  <a16:creationId xmlns:a16="http://schemas.microsoft.com/office/drawing/2014/main" id="{BB40C263-996F-ED05-BAB4-3C348FBB068C}"/>
                </a:ext>
              </a:extLst>
            </p:cNvPr>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815;p35">
              <a:extLst>
                <a:ext uri="{FF2B5EF4-FFF2-40B4-BE49-F238E27FC236}">
                  <a16:creationId xmlns:a16="http://schemas.microsoft.com/office/drawing/2014/main" id="{821DF07B-E5A1-E262-C718-B2A6131FD3B3}"/>
                </a:ext>
              </a:extLst>
            </p:cNvPr>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816;p35">
              <a:extLst>
                <a:ext uri="{FF2B5EF4-FFF2-40B4-BE49-F238E27FC236}">
                  <a16:creationId xmlns:a16="http://schemas.microsoft.com/office/drawing/2014/main" id="{36F18EDC-D934-4BEE-2180-EDB4AED4A0A7}"/>
                </a:ext>
              </a:extLst>
            </p:cNvPr>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817;p35">
              <a:extLst>
                <a:ext uri="{FF2B5EF4-FFF2-40B4-BE49-F238E27FC236}">
                  <a16:creationId xmlns:a16="http://schemas.microsoft.com/office/drawing/2014/main" id="{E2A76B3D-30F2-28F8-CAEA-E883CF593726}"/>
                </a:ext>
              </a:extLst>
            </p:cNvPr>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818;p35">
              <a:extLst>
                <a:ext uri="{FF2B5EF4-FFF2-40B4-BE49-F238E27FC236}">
                  <a16:creationId xmlns:a16="http://schemas.microsoft.com/office/drawing/2014/main" id="{16223E5C-406C-DDA1-F7F4-207DAE063FA2}"/>
                </a:ext>
              </a:extLst>
            </p:cNvPr>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819;p35">
              <a:extLst>
                <a:ext uri="{FF2B5EF4-FFF2-40B4-BE49-F238E27FC236}">
                  <a16:creationId xmlns:a16="http://schemas.microsoft.com/office/drawing/2014/main" id="{25FAFC11-E634-BCB3-66C9-18DF6C9E3720}"/>
                </a:ext>
              </a:extLst>
            </p:cNvPr>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820;p35">
              <a:extLst>
                <a:ext uri="{FF2B5EF4-FFF2-40B4-BE49-F238E27FC236}">
                  <a16:creationId xmlns:a16="http://schemas.microsoft.com/office/drawing/2014/main" id="{BB52D746-F645-BEBA-8CBF-4EB70D2EEDFD}"/>
                </a:ext>
              </a:extLst>
            </p:cNvPr>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821;p35">
              <a:extLst>
                <a:ext uri="{FF2B5EF4-FFF2-40B4-BE49-F238E27FC236}">
                  <a16:creationId xmlns:a16="http://schemas.microsoft.com/office/drawing/2014/main" id="{E54F65D5-6AA1-447C-35A5-0182816B4357}"/>
                </a:ext>
              </a:extLst>
            </p:cNvPr>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822;p35">
              <a:extLst>
                <a:ext uri="{FF2B5EF4-FFF2-40B4-BE49-F238E27FC236}">
                  <a16:creationId xmlns:a16="http://schemas.microsoft.com/office/drawing/2014/main" id="{BE10C867-86AE-80C7-5A02-8DB4DFD3E67D}"/>
                </a:ext>
              </a:extLst>
            </p:cNvPr>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823;p35">
              <a:extLst>
                <a:ext uri="{FF2B5EF4-FFF2-40B4-BE49-F238E27FC236}">
                  <a16:creationId xmlns:a16="http://schemas.microsoft.com/office/drawing/2014/main" id="{FA2907DE-B59F-D1DD-D0D9-832877A65F16}"/>
                </a:ext>
              </a:extLst>
            </p:cNvPr>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824;p35">
              <a:extLst>
                <a:ext uri="{FF2B5EF4-FFF2-40B4-BE49-F238E27FC236}">
                  <a16:creationId xmlns:a16="http://schemas.microsoft.com/office/drawing/2014/main" id="{E5010F44-7E53-05FE-DF36-B27F2F8C15B6}"/>
                </a:ext>
              </a:extLst>
            </p:cNvPr>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825;p35">
              <a:extLst>
                <a:ext uri="{FF2B5EF4-FFF2-40B4-BE49-F238E27FC236}">
                  <a16:creationId xmlns:a16="http://schemas.microsoft.com/office/drawing/2014/main" id="{7B403591-E82E-A864-D78A-446518A4B194}"/>
                </a:ext>
              </a:extLst>
            </p:cNvPr>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826;p35">
              <a:extLst>
                <a:ext uri="{FF2B5EF4-FFF2-40B4-BE49-F238E27FC236}">
                  <a16:creationId xmlns:a16="http://schemas.microsoft.com/office/drawing/2014/main" id="{19651DA3-8A53-8B53-CBCE-98FC7B92F0E6}"/>
                </a:ext>
              </a:extLst>
            </p:cNvPr>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827;p35">
              <a:extLst>
                <a:ext uri="{FF2B5EF4-FFF2-40B4-BE49-F238E27FC236}">
                  <a16:creationId xmlns:a16="http://schemas.microsoft.com/office/drawing/2014/main" id="{D4C89707-5BCE-B559-FDD7-609CB8BE1F64}"/>
                </a:ext>
              </a:extLst>
            </p:cNvPr>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828;p35">
              <a:extLst>
                <a:ext uri="{FF2B5EF4-FFF2-40B4-BE49-F238E27FC236}">
                  <a16:creationId xmlns:a16="http://schemas.microsoft.com/office/drawing/2014/main" id="{877C42FF-53AA-194F-56E4-AB86CC8625FE}"/>
                </a:ext>
              </a:extLst>
            </p:cNvPr>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829;p35">
              <a:extLst>
                <a:ext uri="{FF2B5EF4-FFF2-40B4-BE49-F238E27FC236}">
                  <a16:creationId xmlns:a16="http://schemas.microsoft.com/office/drawing/2014/main" id="{440EDA42-9E6C-EAEE-EADD-FAF112BCC463}"/>
                </a:ext>
              </a:extLst>
            </p:cNvPr>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830;p35">
              <a:extLst>
                <a:ext uri="{FF2B5EF4-FFF2-40B4-BE49-F238E27FC236}">
                  <a16:creationId xmlns:a16="http://schemas.microsoft.com/office/drawing/2014/main" id="{6D2E4956-EA28-8C40-B0A1-4DB3F6C9A8D9}"/>
                </a:ext>
              </a:extLst>
            </p:cNvPr>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831;p35">
              <a:extLst>
                <a:ext uri="{FF2B5EF4-FFF2-40B4-BE49-F238E27FC236}">
                  <a16:creationId xmlns:a16="http://schemas.microsoft.com/office/drawing/2014/main" id="{C6E19288-B064-EE4E-733B-0183A3C9BC00}"/>
                </a:ext>
              </a:extLst>
            </p:cNvPr>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832;p35">
              <a:extLst>
                <a:ext uri="{FF2B5EF4-FFF2-40B4-BE49-F238E27FC236}">
                  <a16:creationId xmlns:a16="http://schemas.microsoft.com/office/drawing/2014/main" id="{9DEB9313-80A2-A524-C521-6F9945C61E29}"/>
                </a:ext>
              </a:extLst>
            </p:cNvPr>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833;p35">
              <a:extLst>
                <a:ext uri="{FF2B5EF4-FFF2-40B4-BE49-F238E27FC236}">
                  <a16:creationId xmlns:a16="http://schemas.microsoft.com/office/drawing/2014/main" id="{3E39AF98-7CEB-3FF4-765F-19271F32D231}"/>
                </a:ext>
              </a:extLst>
            </p:cNvPr>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834;p35">
              <a:extLst>
                <a:ext uri="{FF2B5EF4-FFF2-40B4-BE49-F238E27FC236}">
                  <a16:creationId xmlns:a16="http://schemas.microsoft.com/office/drawing/2014/main" id="{46C5EF9A-6A06-5A77-A82B-4C58E88BE535}"/>
                </a:ext>
              </a:extLst>
            </p:cNvPr>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835;p35">
              <a:extLst>
                <a:ext uri="{FF2B5EF4-FFF2-40B4-BE49-F238E27FC236}">
                  <a16:creationId xmlns:a16="http://schemas.microsoft.com/office/drawing/2014/main" id="{162CE4DC-3043-0631-A90B-7BCE5A598942}"/>
                </a:ext>
              </a:extLst>
            </p:cNvPr>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836;p35">
              <a:extLst>
                <a:ext uri="{FF2B5EF4-FFF2-40B4-BE49-F238E27FC236}">
                  <a16:creationId xmlns:a16="http://schemas.microsoft.com/office/drawing/2014/main" id="{035DC9CC-C361-E8CF-232F-53C03A3F76A9}"/>
                </a:ext>
              </a:extLst>
            </p:cNvPr>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837;p35">
              <a:extLst>
                <a:ext uri="{FF2B5EF4-FFF2-40B4-BE49-F238E27FC236}">
                  <a16:creationId xmlns:a16="http://schemas.microsoft.com/office/drawing/2014/main" id="{DD69AF96-35BE-C15D-E13F-789E664F3392}"/>
                </a:ext>
              </a:extLst>
            </p:cNvPr>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838;p35">
              <a:extLst>
                <a:ext uri="{FF2B5EF4-FFF2-40B4-BE49-F238E27FC236}">
                  <a16:creationId xmlns:a16="http://schemas.microsoft.com/office/drawing/2014/main" id="{B3A1875F-4CA0-AD1E-C00A-1B090B700A61}"/>
                </a:ext>
              </a:extLst>
            </p:cNvPr>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839;p35">
              <a:extLst>
                <a:ext uri="{FF2B5EF4-FFF2-40B4-BE49-F238E27FC236}">
                  <a16:creationId xmlns:a16="http://schemas.microsoft.com/office/drawing/2014/main" id="{E277D717-2A49-21A4-107C-12ADD356DBA6}"/>
                </a:ext>
              </a:extLst>
            </p:cNvPr>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840;p35">
              <a:extLst>
                <a:ext uri="{FF2B5EF4-FFF2-40B4-BE49-F238E27FC236}">
                  <a16:creationId xmlns:a16="http://schemas.microsoft.com/office/drawing/2014/main" id="{E7823AA1-C03C-6487-7959-D02BFCB413E5}"/>
                </a:ext>
              </a:extLst>
            </p:cNvPr>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841;p35">
              <a:extLst>
                <a:ext uri="{FF2B5EF4-FFF2-40B4-BE49-F238E27FC236}">
                  <a16:creationId xmlns:a16="http://schemas.microsoft.com/office/drawing/2014/main" id="{A635BEAE-D5EC-F63C-C3B5-22503EE7381A}"/>
                </a:ext>
              </a:extLst>
            </p:cNvPr>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842;p35">
              <a:extLst>
                <a:ext uri="{FF2B5EF4-FFF2-40B4-BE49-F238E27FC236}">
                  <a16:creationId xmlns:a16="http://schemas.microsoft.com/office/drawing/2014/main" id="{D303115F-3FA5-E5D5-1809-C83368D70C22}"/>
                </a:ext>
              </a:extLst>
            </p:cNvPr>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843;p35">
              <a:extLst>
                <a:ext uri="{FF2B5EF4-FFF2-40B4-BE49-F238E27FC236}">
                  <a16:creationId xmlns:a16="http://schemas.microsoft.com/office/drawing/2014/main" id="{ACB3C576-7608-6EC7-E5F2-C5A093EACB12}"/>
                </a:ext>
              </a:extLst>
            </p:cNvPr>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844;p35">
              <a:extLst>
                <a:ext uri="{FF2B5EF4-FFF2-40B4-BE49-F238E27FC236}">
                  <a16:creationId xmlns:a16="http://schemas.microsoft.com/office/drawing/2014/main" id="{3FC7D162-191D-9A85-904D-ACEA7E71433C}"/>
                </a:ext>
              </a:extLst>
            </p:cNvPr>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845;p35">
              <a:extLst>
                <a:ext uri="{FF2B5EF4-FFF2-40B4-BE49-F238E27FC236}">
                  <a16:creationId xmlns:a16="http://schemas.microsoft.com/office/drawing/2014/main" id="{D6D4214C-5D64-680E-783F-EC51CC311321}"/>
                </a:ext>
              </a:extLst>
            </p:cNvPr>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846;p35">
              <a:extLst>
                <a:ext uri="{FF2B5EF4-FFF2-40B4-BE49-F238E27FC236}">
                  <a16:creationId xmlns:a16="http://schemas.microsoft.com/office/drawing/2014/main" id="{2CB07E40-62CD-1DC5-89BC-B7AAA11316B2}"/>
                </a:ext>
              </a:extLst>
            </p:cNvPr>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847;p35">
              <a:extLst>
                <a:ext uri="{FF2B5EF4-FFF2-40B4-BE49-F238E27FC236}">
                  <a16:creationId xmlns:a16="http://schemas.microsoft.com/office/drawing/2014/main" id="{D62F7B35-CE44-41F7-4E00-ED219F81E0B0}"/>
                </a:ext>
              </a:extLst>
            </p:cNvPr>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848;p35">
              <a:extLst>
                <a:ext uri="{FF2B5EF4-FFF2-40B4-BE49-F238E27FC236}">
                  <a16:creationId xmlns:a16="http://schemas.microsoft.com/office/drawing/2014/main" id="{AE63B237-BD96-C8CA-17F8-FA41622CF2FB}"/>
                </a:ext>
              </a:extLst>
            </p:cNvPr>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849;p35">
              <a:extLst>
                <a:ext uri="{FF2B5EF4-FFF2-40B4-BE49-F238E27FC236}">
                  <a16:creationId xmlns:a16="http://schemas.microsoft.com/office/drawing/2014/main" id="{9D406552-B106-4EE7-3ACF-2C25A627FAA3}"/>
                </a:ext>
              </a:extLst>
            </p:cNvPr>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850;p35">
              <a:extLst>
                <a:ext uri="{FF2B5EF4-FFF2-40B4-BE49-F238E27FC236}">
                  <a16:creationId xmlns:a16="http://schemas.microsoft.com/office/drawing/2014/main" id="{80F7ACAF-3685-4CD8-72BA-EFC641393717}"/>
                </a:ext>
              </a:extLst>
            </p:cNvPr>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851;p35">
              <a:extLst>
                <a:ext uri="{FF2B5EF4-FFF2-40B4-BE49-F238E27FC236}">
                  <a16:creationId xmlns:a16="http://schemas.microsoft.com/office/drawing/2014/main" id="{EB3001FE-496B-B2BA-9335-5507EE95B868}"/>
                </a:ext>
              </a:extLst>
            </p:cNvPr>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852;p35">
              <a:extLst>
                <a:ext uri="{FF2B5EF4-FFF2-40B4-BE49-F238E27FC236}">
                  <a16:creationId xmlns:a16="http://schemas.microsoft.com/office/drawing/2014/main" id="{0CB65F42-5195-2573-E115-16C09B218BB8}"/>
                </a:ext>
              </a:extLst>
            </p:cNvPr>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853;p35">
              <a:extLst>
                <a:ext uri="{FF2B5EF4-FFF2-40B4-BE49-F238E27FC236}">
                  <a16:creationId xmlns:a16="http://schemas.microsoft.com/office/drawing/2014/main" id="{B45C66C3-E509-877D-D656-E5DC17D3A5FC}"/>
                </a:ext>
              </a:extLst>
            </p:cNvPr>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854;p35">
              <a:extLst>
                <a:ext uri="{FF2B5EF4-FFF2-40B4-BE49-F238E27FC236}">
                  <a16:creationId xmlns:a16="http://schemas.microsoft.com/office/drawing/2014/main" id="{58F53852-B9AF-3CAE-B72C-8DB02E49BF0D}"/>
                </a:ext>
              </a:extLst>
            </p:cNvPr>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855;p35">
              <a:extLst>
                <a:ext uri="{FF2B5EF4-FFF2-40B4-BE49-F238E27FC236}">
                  <a16:creationId xmlns:a16="http://schemas.microsoft.com/office/drawing/2014/main" id="{4AE03F85-21C0-BE70-E876-9D72749551DB}"/>
                </a:ext>
              </a:extLst>
            </p:cNvPr>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856;p35">
              <a:extLst>
                <a:ext uri="{FF2B5EF4-FFF2-40B4-BE49-F238E27FC236}">
                  <a16:creationId xmlns:a16="http://schemas.microsoft.com/office/drawing/2014/main" id="{F7B56301-7B7C-42C4-BA4C-D0ADB4CE2352}"/>
                </a:ext>
              </a:extLst>
            </p:cNvPr>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857;p35">
              <a:extLst>
                <a:ext uri="{FF2B5EF4-FFF2-40B4-BE49-F238E27FC236}">
                  <a16:creationId xmlns:a16="http://schemas.microsoft.com/office/drawing/2014/main" id="{BEF141C6-9B8A-514F-A7FC-9F27BF914BD4}"/>
                </a:ext>
              </a:extLst>
            </p:cNvPr>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858;p35">
              <a:extLst>
                <a:ext uri="{FF2B5EF4-FFF2-40B4-BE49-F238E27FC236}">
                  <a16:creationId xmlns:a16="http://schemas.microsoft.com/office/drawing/2014/main" id="{1A5631CE-B003-C617-33F1-04900EEA5FD2}"/>
                </a:ext>
              </a:extLst>
            </p:cNvPr>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859;p35">
              <a:extLst>
                <a:ext uri="{FF2B5EF4-FFF2-40B4-BE49-F238E27FC236}">
                  <a16:creationId xmlns:a16="http://schemas.microsoft.com/office/drawing/2014/main" id="{3D5F4CA4-E136-15CB-E488-341F51A166FD}"/>
                </a:ext>
              </a:extLst>
            </p:cNvPr>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860;p35">
              <a:extLst>
                <a:ext uri="{FF2B5EF4-FFF2-40B4-BE49-F238E27FC236}">
                  <a16:creationId xmlns:a16="http://schemas.microsoft.com/office/drawing/2014/main" id="{7EE967DA-0F97-885B-D5D5-B6ECE4BFB335}"/>
                </a:ext>
              </a:extLst>
            </p:cNvPr>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861;p35">
              <a:extLst>
                <a:ext uri="{FF2B5EF4-FFF2-40B4-BE49-F238E27FC236}">
                  <a16:creationId xmlns:a16="http://schemas.microsoft.com/office/drawing/2014/main" id="{46D8F391-A477-D90F-131F-367A624A4129}"/>
                </a:ext>
              </a:extLst>
            </p:cNvPr>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862;p35">
              <a:extLst>
                <a:ext uri="{FF2B5EF4-FFF2-40B4-BE49-F238E27FC236}">
                  <a16:creationId xmlns:a16="http://schemas.microsoft.com/office/drawing/2014/main" id="{9761987D-1772-7082-3728-776539450F39}"/>
                </a:ext>
              </a:extLst>
            </p:cNvPr>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863;p35">
              <a:extLst>
                <a:ext uri="{FF2B5EF4-FFF2-40B4-BE49-F238E27FC236}">
                  <a16:creationId xmlns:a16="http://schemas.microsoft.com/office/drawing/2014/main" id="{A4BFBCDD-6C7D-60EE-33E5-472266D49421}"/>
                </a:ext>
              </a:extLst>
            </p:cNvPr>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864;p35">
              <a:extLst>
                <a:ext uri="{FF2B5EF4-FFF2-40B4-BE49-F238E27FC236}">
                  <a16:creationId xmlns:a16="http://schemas.microsoft.com/office/drawing/2014/main" id="{F4A99E77-9DAF-B34D-875D-48986E040ABB}"/>
                </a:ext>
              </a:extLst>
            </p:cNvPr>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865;p35">
              <a:extLst>
                <a:ext uri="{FF2B5EF4-FFF2-40B4-BE49-F238E27FC236}">
                  <a16:creationId xmlns:a16="http://schemas.microsoft.com/office/drawing/2014/main" id="{24B24713-7F48-74C6-189E-5FD68F9CD4CB}"/>
                </a:ext>
              </a:extLst>
            </p:cNvPr>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66;p35">
              <a:extLst>
                <a:ext uri="{FF2B5EF4-FFF2-40B4-BE49-F238E27FC236}">
                  <a16:creationId xmlns:a16="http://schemas.microsoft.com/office/drawing/2014/main" id="{24514707-AFA8-5B44-1AD3-26904B0A64A9}"/>
                </a:ext>
              </a:extLst>
            </p:cNvPr>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67;p35">
              <a:extLst>
                <a:ext uri="{FF2B5EF4-FFF2-40B4-BE49-F238E27FC236}">
                  <a16:creationId xmlns:a16="http://schemas.microsoft.com/office/drawing/2014/main" id="{5D26B623-28D8-A8BC-0FC2-E8E05E093187}"/>
                </a:ext>
              </a:extLst>
            </p:cNvPr>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68;p35">
              <a:extLst>
                <a:ext uri="{FF2B5EF4-FFF2-40B4-BE49-F238E27FC236}">
                  <a16:creationId xmlns:a16="http://schemas.microsoft.com/office/drawing/2014/main" id="{F30344A3-904D-C9BC-B9ED-AFE5D2992A3A}"/>
                </a:ext>
              </a:extLst>
            </p:cNvPr>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69;p35">
              <a:extLst>
                <a:ext uri="{FF2B5EF4-FFF2-40B4-BE49-F238E27FC236}">
                  <a16:creationId xmlns:a16="http://schemas.microsoft.com/office/drawing/2014/main" id="{C3C52BC0-9357-7ABE-BFFD-DE24CFBECF44}"/>
                </a:ext>
              </a:extLst>
            </p:cNvPr>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70;p35">
              <a:extLst>
                <a:ext uri="{FF2B5EF4-FFF2-40B4-BE49-F238E27FC236}">
                  <a16:creationId xmlns:a16="http://schemas.microsoft.com/office/drawing/2014/main" id="{33F25D6D-E544-0506-DB7A-31A6CE4C9B5B}"/>
                </a:ext>
              </a:extLst>
            </p:cNvPr>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71;p35">
              <a:extLst>
                <a:ext uri="{FF2B5EF4-FFF2-40B4-BE49-F238E27FC236}">
                  <a16:creationId xmlns:a16="http://schemas.microsoft.com/office/drawing/2014/main" id="{82794A85-EFC2-3ADB-5122-20C90603B3EB}"/>
                </a:ext>
              </a:extLst>
            </p:cNvPr>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72;p35">
              <a:extLst>
                <a:ext uri="{FF2B5EF4-FFF2-40B4-BE49-F238E27FC236}">
                  <a16:creationId xmlns:a16="http://schemas.microsoft.com/office/drawing/2014/main" id="{F422BFDA-4EAA-4149-5724-D2BC4DAFC69D}"/>
                </a:ext>
              </a:extLst>
            </p:cNvPr>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3;p35">
              <a:extLst>
                <a:ext uri="{FF2B5EF4-FFF2-40B4-BE49-F238E27FC236}">
                  <a16:creationId xmlns:a16="http://schemas.microsoft.com/office/drawing/2014/main" id="{A483CB82-69F4-6B99-F777-F390A47D2632}"/>
                </a:ext>
              </a:extLst>
            </p:cNvPr>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74;p35">
              <a:extLst>
                <a:ext uri="{FF2B5EF4-FFF2-40B4-BE49-F238E27FC236}">
                  <a16:creationId xmlns:a16="http://schemas.microsoft.com/office/drawing/2014/main" id="{601B14D9-7331-7A73-FE70-DEFB56C90A26}"/>
                </a:ext>
              </a:extLst>
            </p:cNvPr>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75;p35">
              <a:extLst>
                <a:ext uri="{FF2B5EF4-FFF2-40B4-BE49-F238E27FC236}">
                  <a16:creationId xmlns:a16="http://schemas.microsoft.com/office/drawing/2014/main" id="{64ABE2F2-399C-1F5B-52A8-9021169A6FBF}"/>
                </a:ext>
              </a:extLst>
            </p:cNvPr>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876;p35">
              <a:extLst>
                <a:ext uri="{FF2B5EF4-FFF2-40B4-BE49-F238E27FC236}">
                  <a16:creationId xmlns:a16="http://schemas.microsoft.com/office/drawing/2014/main" id="{DB3C7945-6CA1-B36C-80B5-21268936AA0F}"/>
                </a:ext>
              </a:extLst>
            </p:cNvPr>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877;p35">
              <a:extLst>
                <a:ext uri="{FF2B5EF4-FFF2-40B4-BE49-F238E27FC236}">
                  <a16:creationId xmlns:a16="http://schemas.microsoft.com/office/drawing/2014/main" id="{C767942C-A195-0147-3AC6-365C75392A71}"/>
                </a:ext>
              </a:extLst>
            </p:cNvPr>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878;p35">
              <a:extLst>
                <a:ext uri="{FF2B5EF4-FFF2-40B4-BE49-F238E27FC236}">
                  <a16:creationId xmlns:a16="http://schemas.microsoft.com/office/drawing/2014/main" id="{D3781433-13A3-1CD8-515C-A85DA3730637}"/>
                </a:ext>
              </a:extLst>
            </p:cNvPr>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879;p35">
              <a:extLst>
                <a:ext uri="{FF2B5EF4-FFF2-40B4-BE49-F238E27FC236}">
                  <a16:creationId xmlns:a16="http://schemas.microsoft.com/office/drawing/2014/main" id="{6B53924C-8F50-1EF3-11F7-366EDD0313C9}"/>
                </a:ext>
              </a:extLst>
            </p:cNvPr>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880;p35">
              <a:extLst>
                <a:ext uri="{FF2B5EF4-FFF2-40B4-BE49-F238E27FC236}">
                  <a16:creationId xmlns:a16="http://schemas.microsoft.com/office/drawing/2014/main" id="{3D30F0C4-8535-D7AE-B594-C637642BD3B1}"/>
                </a:ext>
              </a:extLst>
            </p:cNvPr>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881;p35">
              <a:extLst>
                <a:ext uri="{FF2B5EF4-FFF2-40B4-BE49-F238E27FC236}">
                  <a16:creationId xmlns:a16="http://schemas.microsoft.com/office/drawing/2014/main" id="{9EABADD4-8DE8-15BE-B03C-0642CCD6C0FC}"/>
                </a:ext>
              </a:extLst>
            </p:cNvPr>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882;p35">
              <a:extLst>
                <a:ext uri="{FF2B5EF4-FFF2-40B4-BE49-F238E27FC236}">
                  <a16:creationId xmlns:a16="http://schemas.microsoft.com/office/drawing/2014/main" id="{13225B30-1424-290F-560E-D82CE73F4228}"/>
                </a:ext>
              </a:extLst>
            </p:cNvPr>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883;p35">
              <a:extLst>
                <a:ext uri="{FF2B5EF4-FFF2-40B4-BE49-F238E27FC236}">
                  <a16:creationId xmlns:a16="http://schemas.microsoft.com/office/drawing/2014/main" id="{0F2F1A3D-D6B1-0907-A2A8-5175F0ECE877}"/>
                </a:ext>
              </a:extLst>
            </p:cNvPr>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32147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F6C9F80-C339-183E-36E2-3003B24D19F2}"/>
              </a:ext>
            </a:extLst>
          </p:cNvPr>
          <p:cNvSpPr>
            <a:spLocks noGrp="1"/>
          </p:cNvSpPr>
          <p:nvPr>
            <p:ph type="subTitle" idx="1"/>
          </p:nvPr>
        </p:nvSpPr>
        <p:spPr>
          <a:xfrm>
            <a:off x="914400" y="2495550"/>
            <a:ext cx="2971800" cy="2133600"/>
          </a:xfrm>
        </p:spPr>
        <p:txBody>
          <a:bodyPr/>
          <a:lstStyle/>
          <a:p>
            <a:pPr indent="142875" algn="l">
              <a:lnSpc>
                <a:spcPct val="150000"/>
              </a:lnSpc>
            </a:pPr>
            <a:r>
              <a:rPr lang="en-US" sz="1400" b="1" u="sng" dirty="0">
                <a:latin typeface="Bookman Old Style" panose="02050604050505020204" pitchFamily="18" charset="0"/>
                <a:sym typeface="Calibri"/>
              </a:rPr>
              <a:t>SUBMITTED TO:</a:t>
            </a:r>
            <a:r>
              <a:rPr lang="en-US" sz="1400" dirty="0">
                <a:latin typeface="Bookman Old Style" panose="02050604050505020204" pitchFamily="18" charset="0"/>
                <a:sym typeface="Calibri"/>
              </a:rPr>
              <a:t>			 Mrs. Anjali Pandey</a:t>
            </a:r>
          </a:p>
          <a:p>
            <a:pPr indent="142875" algn="r"/>
            <a:r>
              <a:rPr lang="en-US" sz="1400" dirty="0">
                <a:latin typeface="Bookman Old Style" panose="02050604050505020204" pitchFamily="18" charset="0"/>
                <a:sym typeface="Calibri"/>
              </a:rPr>
              <a:t>(</a:t>
            </a:r>
            <a:r>
              <a:rPr lang="en-US" sz="1400" dirty="0">
                <a:latin typeface="Bookman Old Style" panose="02050604050505020204" pitchFamily="18" charset="0"/>
                <a:sym typeface="Times New Roman"/>
              </a:rPr>
              <a:t>Assistant Professor)</a:t>
            </a:r>
          </a:p>
          <a:p>
            <a:pPr indent="142875" algn="r"/>
            <a:r>
              <a:rPr lang="en-US" sz="1400" dirty="0">
                <a:latin typeface="Bookman Old Style" panose="02050604050505020204" pitchFamily="18" charset="0"/>
                <a:sym typeface="Times New Roman"/>
              </a:rPr>
              <a:t>                                      </a:t>
            </a:r>
          </a:p>
          <a:p>
            <a:pPr indent="142875" algn="l"/>
            <a:r>
              <a:rPr lang="en-US" sz="1400" b="1" u="sng" dirty="0">
                <a:latin typeface="Bookman Old Style" panose="02050604050505020204" pitchFamily="18" charset="0"/>
                <a:sym typeface="Calibri"/>
              </a:rPr>
              <a:t>LAB COORDINATOR:</a:t>
            </a:r>
          </a:p>
          <a:p>
            <a:pPr indent="142875" algn="l"/>
            <a:endParaRPr lang="en-US" b="1" u="sng" dirty="0">
              <a:latin typeface="Bookman Old Style" panose="02050604050505020204" pitchFamily="18" charset="0"/>
              <a:sym typeface="Times New Roman"/>
            </a:endParaRPr>
          </a:p>
          <a:p>
            <a:pPr indent="142875" algn="r"/>
            <a:r>
              <a:rPr lang="en-US" sz="1400" dirty="0">
                <a:latin typeface="Bookman Old Style" panose="02050604050505020204" pitchFamily="18" charset="0"/>
                <a:sym typeface="Times New Roman"/>
              </a:rPr>
              <a:t>Mrs. Sanju Chaudhary</a:t>
            </a:r>
            <a:endParaRPr lang="en-US" dirty="0">
              <a:latin typeface="Bookman Old Style" panose="02050604050505020204" pitchFamily="18" charset="0"/>
            </a:endParaRPr>
          </a:p>
          <a:p>
            <a:pPr indent="142875" algn="r"/>
            <a:r>
              <a:rPr lang="en-US" sz="1400" dirty="0">
                <a:latin typeface="Bookman Old Style" panose="02050604050505020204" pitchFamily="18" charset="0"/>
                <a:sym typeface="Times New Roman"/>
              </a:rPr>
              <a:t>(Associate Professor)</a:t>
            </a:r>
            <a:endParaRPr lang="en-IN" dirty="0"/>
          </a:p>
        </p:txBody>
      </p:sp>
      <p:sp>
        <p:nvSpPr>
          <p:cNvPr id="3" name="Title 2">
            <a:extLst>
              <a:ext uri="{FF2B5EF4-FFF2-40B4-BE49-F238E27FC236}">
                <a16:creationId xmlns:a16="http://schemas.microsoft.com/office/drawing/2014/main" id="{7C2794A0-21AB-CC0D-07F1-1F31BA918551}"/>
              </a:ext>
            </a:extLst>
          </p:cNvPr>
          <p:cNvSpPr>
            <a:spLocks noGrp="1"/>
          </p:cNvSpPr>
          <p:nvPr>
            <p:ph type="title"/>
          </p:nvPr>
        </p:nvSpPr>
        <p:spPr>
          <a:xfrm>
            <a:off x="1143000" y="159894"/>
            <a:ext cx="6781800" cy="1981200"/>
          </a:xfrm>
        </p:spPr>
        <p:txBody>
          <a:bodyPr/>
          <a:lstStyle/>
          <a:p>
            <a:r>
              <a:rPr lang="en-US" sz="3200" b="1" u="sng" dirty="0">
                <a:solidFill>
                  <a:srgbClr val="002060"/>
                </a:solidFill>
                <a:latin typeface="Calibri" panose="020F0502020204030204" pitchFamily="34" charset="0"/>
                <a:ea typeface="Calibri" panose="020F0502020204030204" pitchFamily="34" charset="0"/>
                <a:cs typeface="Calibri" panose="020F0502020204030204" pitchFamily="34" charset="0"/>
                <a:sym typeface="Times New Roman"/>
              </a:rPr>
              <a:t>NFT Sales Analytics Dashboard</a:t>
            </a:r>
            <a:br>
              <a:rPr lang="en-US" sz="5400" b="1" u="sng" dirty="0">
                <a:solidFill>
                  <a:srgbClr val="002060"/>
                </a:solidFill>
                <a:latin typeface="Calibri" panose="020F0502020204030204" pitchFamily="34" charset="0"/>
                <a:ea typeface="Calibri" panose="020F0502020204030204" pitchFamily="34" charset="0"/>
                <a:cs typeface="Calibri" panose="020F0502020204030204" pitchFamily="34" charset="0"/>
                <a:sym typeface="Times New Roman"/>
              </a:rPr>
            </a:br>
            <a:br>
              <a:rPr lang="en-US" sz="600" dirty="0">
                <a:solidFill>
                  <a:schemeClr val="dk1"/>
                </a:solidFill>
                <a:latin typeface="Bookman Old Style" panose="02050604050505020204" pitchFamily="18" charset="0"/>
                <a:ea typeface="Garamond"/>
                <a:cs typeface="Garamond"/>
                <a:sym typeface="Garamond"/>
              </a:rPr>
            </a:b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Department of Information Technology</a:t>
            </a:r>
            <a:b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sym typeface="Garamond"/>
              </a:rPr>
            </a:b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Swami </a:t>
            </a:r>
            <a:r>
              <a:rPr lang="en-US" sz="1600" b="1" dirty="0" err="1">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Keshvanand</a:t>
            </a: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 Institute of Technology, Management &amp; </a:t>
            </a:r>
            <a:r>
              <a:rPr lang="en-US" sz="1600" b="1" dirty="0" err="1">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Gramothan</a:t>
            </a: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 Jaipur</a:t>
            </a:r>
            <a:br>
              <a:rPr lang="en-US" sz="1400" dirty="0">
                <a:solidFill>
                  <a:schemeClr val="dk1"/>
                </a:solidFill>
                <a:latin typeface="Calibri" panose="020F0502020204030204" pitchFamily="34" charset="0"/>
                <a:ea typeface="Calibri" panose="020F0502020204030204" pitchFamily="34" charset="0"/>
                <a:cs typeface="Calibri" panose="020F0502020204030204" pitchFamily="34" charset="0"/>
                <a:sym typeface="Garamond"/>
              </a:rPr>
            </a:b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Rajasthan Technical University, Kota</a:t>
            </a:r>
            <a:br>
              <a:rPr lang="en-US" sz="1600" dirty="0">
                <a:solidFill>
                  <a:schemeClr val="dk1"/>
                </a:solidFill>
                <a:latin typeface="Calibri" panose="020F0502020204030204" pitchFamily="34" charset="0"/>
                <a:ea typeface="Calibri" panose="020F0502020204030204" pitchFamily="34" charset="0"/>
                <a:cs typeface="Calibri" panose="020F0502020204030204" pitchFamily="34" charset="0"/>
                <a:sym typeface="Garamond"/>
              </a:rPr>
            </a:br>
            <a:r>
              <a:rPr lang="en-US" sz="16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Session 2022-23</a:t>
            </a:r>
            <a:endParaRPr lang="en-IN" dirty="0"/>
          </a:p>
        </p:txBody>
      </p:sp>
      <p:pic>
        <p:nvPicPr>
          <p:cNvPr id="4" name="Google Shape;151;p1" descr="1496228125php4tscmU">
            <a:extLst>
              <a:ext uri="{FF2B5EF4-FFF2-40B4-BE49-F238E27FC236}">
                <a16:creationId xmlns:a16="http://schemas.microsoft.com/office/drawing/2014/main" id="{455DB787-BCD6-9684-D87E-A1BB5A2C908B}"/>
              </a:ext>
            </a:extLst>
          </p:cNvPr>
          <p:cNvPicPr preferRelativeResize="0"/>
          <p:nvPr/>
        </p:nvPicPr>
        <p:blipFill rotWithShape="1">
          <a:blip r:embed="rId2">
            <a:alphaModFix/>
          </a:blip>
          <a:srcRect/>
          <a:stretch/>
        </p:blipFill>
        <p:spPr>
          <a:xfrm>
            <a:off x="304800" y="285750"/>
            <a:ext cx="994052" cy="685800"/>
          </a:xfrm>
          <a:prstGeom prst="rect">
            <a:avLst/>
          </a:prstGeom>
          <a:noFill/>
          <a:ln>
            <a:noFill/>
          </a:ln>
        </p:spPr>
      </p:pic>
      <p:sp>
        <p:nvSpPr>
          <p:cNvPr id="6" name="TextBox 5">
            <a:extLst>
              <a:ext uri="{FF2B5EF4-FFF2-40B4-BE49-F238E27FC236}">
                <a16:creationId xmlns:a16="http://schemas.microsoft.com/office/drawing/2014/main" id="{143BEBBE-92D1-5BE2-A701-9B37ADE79F38}"/>
              </a:ext>
            </a:extLst>
          </p:cNvPr>
          <p:cNvSpPr txBox="1"/>
          <p:nvPr/>
        </p:nvSpPr>
        <p:spPr>
          <a:xfrm>
            <a:off x="4724400" y="2800350"/>
            <a:ext cx="3350142" cy="1277273"/>
          </a:xfrm>
          <a:prstGeom prst="rect">
            <a:avLst/>
          </a:prstGeom>
          <a:noFill/>
        </p:spPr>
        <p:txBody>
          <a:bodyPr wrap="square">
            <a:spAutoFit/>
          </a:bodyPr>
          <a:lstStyle/>
          <a:p>
            <a:pPr indent="142875">
              <a:buClr>
                <a:schemeClr val="dk1"/>
              </a:buClr>
            </a:pPr>
            <a:r>
              <a:rPr lang="en-US" sz="1200" b="1" u="sng" dirty="0">
                <a:latin typeface="Bookman Old Style" panose="02050604050505020204" pitchFamily="18" charset="0"/>
                <a:sym typeface="Calibri"/>
              </a:rPr>
              <a:t>SUBMITTED BY:</a:t>
            </a:r>
          </a:p>
          <a:p>
            <a:pPr indent="142875">
              <a:buClr>
                <a:schemeClr val="dk1"/>
              </a:buClr>
            </a:pPr>
            <a:endParaRPr lang="en-US" sz="900" b="1" u="sng"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sym typeface="Garamond"/>
            </a:endParaRPr>
          </a:p>
          <a:p>
            <a:pPr indent="142875">
              <a:buClr>
                <a:schemeClr val="dk1"/>
              </a:buClr>
            </a:pPr>
            <a:r>
              <a:rPr lang="en-US" dirty="0">
                <a:latin typeface="Calibri" panose="020F0502020204030204" pitchFamily="34" charset="0"/>
                <a:ea typeface="Calibri" panose="020F0502020204030204" pitchFamily="34" charset="0"/>
                <a:cs typeface="Calibri" panose="020F0502020204030204" pitchFamily="34" charset="0"/>
                <a:sym typeface="Times New Roman"/>
              </a:rPr>
              <a:t>Jagrati Sharma</a:t>
            </a:r>
            <a:r>
              <a:rPr lang="en-US" sz="1400" dirty="0">
                <a:latin typeface="Calibri" panose="020F0502020204030204" pitchFamily="34" charset="0"/>
                <a:ea typeface="Calibri" panose="020F0502020204030204" pitchFamily="34" charset="0"/>
                <a:cs typeface="Calibri" panose="020F0502020204030204" pitchFamily="34" charset="0"/>
                <a:sym typeface="Times New Roman"/>
              </a:rPr>
              <a:t>                       (19ESKIT033)</a:t>
            </a:r>
            <a:endParaRPr lang="en-US" sz="1400" dirty="0">
              <a:latin typeface="Calibri" panose="020F0502020204030204" pitchFamily="34" charset="0"/>
              <a:ea typeface="Calibri" panose="020F0502020204030204" pitchFamily="34" charset="0"/>
              <a:cs typeface="Calibri" panose="020F0502020204030204" pitchFamily="34" charset="0"/>
              <a:sym typeface="Garamond"/>
            </a:endParaRPr>
          </a:p>
          <a:p>
            <a:pPr indent="142875">
              <a:buClr>
                <a:schemeClr val="dk1"/>
              </a:buClr>
            </a:pPr>
            <a:r>
              <a:rPr lang="en-US" dirty="0">
                <a:latin typeface="Calibri" panose="020F0502020204030204" pitchFamily="34" charset="0"/>
                <a:ea typeface="Calibri" panose="020F0502020204030204" pitchFamily="34" charset="0"/>
                <a:cs typeface="Calibri" panose="020F0502020204030204" pitchFamily="34" charset="0"/>
                <a:sym typeface="Times New Roman"/>
              </a:rPr>
              <a:t>Jitendra </a:t>
            </a:r>
            <a:r>
              <a:rPr lang="en-US" dirty="0" err="1">
                <a:latin typeface="Calibri" panose="020F0502020204030204" pitchFamily="34" charset="0"/>
                <a:ea typeface="Calibri" panose="020F0502020204030204" pitchFamily="34" charset="0"/>
                <a:cs typeface="Calibri" panose="020F0502020204030204" pitchFamily="34" charset="0"/>
                <a:sym typeface="Times New Roman"/>
              </a:rPr>
              <a:t>Prajapat</a:t>
            </a:r>
            <a:r>
              <a:rPr lang="en-US" sz="1400" dirty="0">
                <a:latin typeface="Calibri" panose="020F0502020204030204" pitchFamily="34" charset="0"/>
                <a:ea typeface="Calibri" panose="020F0502020204030204" pitchFamily="34" charset="0"/>
                <a:cs typeface="Calibri" panose="020F0502020204030204" pitchFamily="34" charset="0"/>
                <a:sym typeface="Times New Roman"/>
              </a:rPr>
              <a:t>                   (19ESKIT037)</a:t>
            </a:r>
            <a:endParaRPr lang="en-US" sz="1400" dirty="0">
              <a:latin typeface="Calibri" panose="020F0502020204030204" pitchFamily="34" charset="0"/>
              <a:ea typeface="Calibri" panose="020F0502020204030204" pitchFamily="34" charset="0"/>
              <a:cs typeface="Calibri" panose="020F0502020204030204" pitchFamily="34" charset="0"/>
            </a:endParaRPr>
          </a:p>
          <a:p>
            <a:pPr indent="142875">
              <a:buClr>
                <a:schemeClr val="dk1"/>
              </a:buClr>
            </a:pPr>
            <a:r>
              <a:rPr lang="en-US" dirty="0">
                <a:latin typeface="Calibri" panose="020F0502020204030204" pitchFamily="34" charset="0"/>
                <a:ea typeface="Calibri" panose="020F0502020204030204" pitchFamily="34" charset="0"/>
                <a:cs typeface="Calibri" panose="020F0502020204030204" pitchFamily="34" charset="0"/>
                <a:sym typeface="Times New Roman"/>
              </a:rPr>
              <a:t>Karan Sabnani</a:t>
            </a:r>
            <a:r>
              <a:rPr lang="en-US" sz="1400" dirty="0">
                <a:latin typeface="Calibri" panose="020F0502020204030204" pitchFamily="34" charset="0"/>
                <a:ea typeface="Calibri" panose="020F0502020204030204" pitchFamily="34" charset="0"/>
                <a:cs typeface="Calibri" panose="020F0502020204030204" pitchFamily="34" charset="0"/>
                <a:sym typeface="Times New Roman"/>
              </a:rPr>
              <a:t>	       (19ESKIT038)</a:t>
            </a:r>
          </a:p>
          <a:p>
            <a:pPr indent="142875">
              <a:buClr>
                <a:schemeClr val="dk1"/>
              </a:buClr>
            </a:pPr>
            <a:r>
              <a:rPr lang="en-US" dirty="0">
                <a:latin typeface="Calibri" panose="020F0502020204030204" pitchFamily="34" charset="0"/>
                <a:ea typeface="Calibri" panose="020F0502020204030204" pitchFamily="34" charset="0"/>
                <a:cs typeface="Calibri" panose="020F0502020204030204" pitchFamily="34" charset="0"/>
                <a:sym typeface="Times New Roman"/>
              </a:rPr>
              <a:t>Komal Soni    </a:t>
            </a:r>
            <a:r>
              <a:rPr lang="en-US" sz="1400" dirty="0">
                <a:latin typeface="Calibri" panose="020F0502020204030204" pitchFamily="34" charset="0"/>
                <a:ea typeface="Calibri" panose="020F0502020204030204" pitchFamily="34" charset="0"/>
                <a:cs typeface="Calibri" panose="020F0502020204030204" pitchFamily="34" charset="0"/>
                <a:sym typeface="Times New Roman"/>
              </a:rPr>
              <a:t>                          (19ESKIT044)</a:t>
            </a:r>
          </a:p>
        </p:txBody>
      </p:sp>
    </p:spTree>
    <p:extLst>
      <p:ext uri="{BB962C8B-B14F-4D97-AF65-F5344CB8AC3E}">
        <p14:creationId xmlns:p14="http://schemas.microsoft.com/office/powerpoint/2010/main" val="3309676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1896" name="Google Shape;1896;p37"/>
          <p:cNvGrpSpPr/>
          <p:nvPr/>
        </p:nvGrpSpPr>
        <p:grpSpPr>
          <a:xfrm>
            <a:off x="3994598" y="1510458"/>
            <a:ext cx="4430405" cy="3106404"/>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7"/>
          <p:cNvGrpSpPr/>
          <p:nvPr/>
        </p:nvGrpSpPr>
        <p:grpSpPr>
          <a:xfrm>
            <a:off x="713931" y="741713"/>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01006" cy="27000"/>
              <a:chOff x="5662375" y="212375"/>
              <a:chExt cx="101006"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31647" y="1644681"/>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753517" y="2614597"/>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798643" y="3498039"/>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Table of Contents</a:t>
            </a:r>
            <a:endParaRPr dirty="0"/>
          </a:p>
        </p:txBody>
      </p:sp>
      <p:sp>
        <p:nvSpPr>
          <p:cNvPr id="2139" name="Google Shape;2139;p37"/>
          <p:cNvSpPr txBox="1">
            <a:spLocks noGrp="1"/>
          </p:cNvSpPr>
          <p:nvPr>
            <p:ph type="subTitle" idx="2"/>
          </p:nvPr>
        </p:nvSpPr>
        <p:spPr>
          <a:xfrm>
            <a:off x="977820" y="1181570"/>
            <a:ext cx="1941095" cy="96545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latin typeface="Barlow Semi Condensed"/>
                <a:ea typeface="Barlow Semi Condensed"/>
                <a:cs typeface="Barlow Semi Condensed"/>
                <a:sym typeface="Barlow Semi Condensed"/>
              </a:rPr>
              <a:t>.</a:t>
            </a:r>
            <a:endParaRPr dirty="0">
              <a:latin typeface="Barlow Semi Condensed"/>
              <a:ea typeface="Barlow Semi Condensed"/>
              <a:cs typeface="Barlow Semi Condensed"/>
              <a:sym typeface="Barlow Semi Condensed"/>
            </a:endParaRPr>
          </a:p>
        </p:txBody>
      </p:sp>
      <p:sp>
        <p:nvSpPr>
          <p:cNvPr id="2140" name="Google Shape;2140;p37"/>
          <p:cNvSpPr txBox="1">
            <a:spLocks noGrp="1"/>
          </p:cNvSpPr>
          <p:nvPr>
            <p:ph type="subTitle" idx="1"/>
          </p:nvPr>
        </p:nvSpPr>
        <p:spPr>
          <a:xfrm>
            <a:off x="1591132" y="826438"/>
            <a:ext cx="2615100" cy="384000"/>
          </a:xfrm>
          <a:prstGeom prst="rect">
            <a:avLst/>
          </a:prstGeom>
        </p:spPr>
        <p:txBody>
          <a:bodyPr spcFirstLastPara="1" wrap="square" lIns="91425" tIns="91425" rIns="91425" bIns="91425" anchor="t" anchorCtr="0">
            <a:noAutofit/>
          </a:bodyPr>
          <a:lstStyle/>
          <a:p>
            <a:pPr>
              <a:lnSpc>
                <a:spcPct val="115000"/>
              </a:lnSpc>
            </a:pPr>
            <a:r>
              <a:rPr lang="en-US" dirty="0"/>
              <a:t>What is NFT’s ?</a:t>
            </a:r>
          </a:p>
          <a:p>
            <a:pPr marL="0" lvl="0" indent="0" algn="l" rtl="0">
              <a:lnSpc>
                <a:spcPct val="115000"/>
              </a:lnSpc>
              <a:spcBef>
                <a:spcPts val="0"/>
              </a:spcBef>
              <a:spcAft>
                <a:spcPts val="0"/>
              </a:spcAft>
              <a:buNone/>
            </a:pPr>
            <a:endParaRPr dirty="0"/>
          </a:p>
        </p:txBody>
      </p:sp>
      <p:sp>
        <p:nvSpPr>
          <p:cNvPr id="2141" name="Google Shape;2141;p37"/>
          <p:cNvSpPr txBox="1">
            <a:spLocks noGrp="1"/>
          </p:cNvSpPr>
          <p:nvPr>
            <p:ph type="subTitle" idx="3"/>
          </p:nvPr>
        </p:nvSpPr>
        <p:spPr>
          <a:xfrm>
            <a:off x="1596312" y="1578576"/>
            <a:ext cx="2615100" cy="709245"/>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dirty="0"/>
              <a:t>NFT Sales Analytics Dashboard</a:t>
            </a:r>
            <a:endParaRPr dirty="0"/>
          </a:p>
        </p:txBody>
      </p:sp>
      <p:sp>
        <p:nvSpPr>
          <p:cNvPr id="2142" name="Google Shape;2142;p37"/>
          <p:cNvSpPr txBox="1">
            <a:spLocks noGrp="1"/>
          </p:cNvSpPr>
          <p:nvPr>
            <p:ph type="subTitle" idx="4"/>
          </p:nvPr>
        </p:nvSpPr>
        <p:spPr>
          <a:xfrm>
            <a:off x="7623847" y="1510457"/>
            <a:ext cx="1520153" cy="5015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a:t>
            </a:r>
            <a:endParaRPr dirty="0"/>
          </a:p>
        </p:txBody>
      </p:sp>
      <p:sp>
        <p:nvSpPr>
          <p:cNvPr id="2143" name="Google Shape;2143;p37"/>
          <p:cNvSpPr txBox="1">
            <a:spLocks noGrp="1"/>
          </p:cNvSpPr>
          <p:nvPr>
            <p:ph type="subTitle" idx="5"/>
          </p:nvPr>
        </p:nvSpPr>
        <p:spPr>
          <a:xfrm>
            <a:off x="1607385" y="2646788"/>
            <a:ext cx="2615100" cy="702791"/>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dirty="0"/>
              <a:t>Tools and Technologies Used</a:t>
            </a:r>
            <a:endParaRPr dirty="0"/>
          </a:p>
        </p:txBody>
      </p:sp>
      <p:sp>
        <p:nvSpPr>
          <p:cNvPr id="2144" name="Google Shape;2144;p37"/>
          <p:cNvSpPr txBox="1">
            <a:spLocks noGrp="1"/>
          </p:cNvSpPr>
          <p:nvPr>
            <p:ph type="subTitle" idx="6"/>
          </p:nvPr>
        </p:nvSpPr>
        <p:spPr>
          <a:xfrm>
            <a:off x="5413278" y="3212223"/>
            <a:ext cx="26151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a:t>
            </a:r>
            <a:endParaRPr dirty="0"/>
          </a:p>
        </p:txBody>
      </p:sp>
      <p:sp>
        <p:nvSpPr>
          <p:cNvPr id="2145" name="Google Shape;2145;p37"/>
          <p:cNvSpPr txBox="1">
            <a:spLocks noGrp="1"/>
          </p:cNvSpPr>
          <p:nvPr>
            <p:ph type="subTitle" idx="7"/>
          </p:nvPr>
        </p:nvSpPr>
        <p:spPr>
          <a:xfrm>
            <a:off x="1524000" y="3559963"/>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dirty="0"/>
              <a:t>Way Forward and Future Scope</a:t>
            </a:r>
            <a:endParaRPr dirty="0"/>
          </a:p>
        </p:txBody>
      </p:sp>
      <p:sp>
        <p:nvSpPr>
          <p:cNvPr id="2146" name="Google Shape;2146;p37"/>
          <p:cNvSpPr txBox="1">
            <a:spLocks noGrp="1"/>
          </p:cNvSpPr>
          <p:nvPr>
            <p:ph type="subTitle" idx="8"/>
          </p:nvPr>
        </p:nvSpPr>
        <p:spPr>
          <a:xfrm>
            <a:off x="5544271" y="2897378"/>
            <a:ext cx="26151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a:t>
            </a:r>
            <a:endParaRPr dirty="0"/>
          </a:p>
        </p:txBody>
      </p:sp>
      <p:sp>
        <p:nvSpPr>
          <p:cNvPr id="2147" name="Google Shape;2147;p37"/>
          <p:cNvSpPr txBox="1">
            <a:spLocks noGrp="1"/>
          </p:cNvSpPr>
          <p:nvPr>
            <p:ph type="title" idx="9"/>
          </p:nvPr>
        </p:nvSpPr>
        <p:spPr>
          <a:xfrm>
            <a:off x="802843" y="88553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2148" name="Google Shape;2148;p37"/>
          <p:cNvSpPr txBox="1">
            <a:spLocks noGrp="1"/>
          </p:cNvSpPr>
          <p:nvPr>
            <p:ph type="title" idx="13"/>
          </p:nvPr>
        </p:nvSpPr>
        <p:spPr>
          <a:xfrm>
            <a:off x="813816" y="18013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49" name="Google Shape;2149;p37"/>
          <p:cNvSpPr txBox="1">
            <a:spLocks noGrp="1"/>
          </p:cNvSpPr>
          <p:nvPr>
            <p:ph type="title" idx="14"/>
          </p:nvPr>
        </p:nvSpPr>
        <p:spPr>
          <a:xfrm>
            <a:off x="834085" y="2754654"/>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2150" name="Google Shape;2150;p37"/>
          <p:cNvSpPr txBox="1">
            <a:spLocks noGrp="1"/>
          </p:cNvSpPr>
          <p:nvPr>
            <p:ph type="title" idx="15"/>
          </p:nvPr>
        </p:nvSpPr>
        <p:spPr>
          <a:xfrm>
            <a:off x="874081" y="3656393"/>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38"/>
                                        </p:tgtEl>
                                        <p:attrNameLst>
                                          <p:attrName>style.visibility</p:attrName>
                                        </p:attrNameLst>
                                      </p:cBhvr>
                                      <p:to>
                                        <p:strVal val="visible"/>
                                      </p:to>
                                    </p:set>
                                    <p:animEffect transition="in" filter="fade">
                                      <p:cBhvr>
                                        <p:cTn id="7" dur="1000"/>
                                        <p:tgtEl>
                                          <p:spTgt spid="2138"/>
                                        </p:tgtEl>
                                      </p:cBhvr>
                                    </p:animEffect>
                                    <p:anim calcmode="lin" valueType="num">
                                      <p:cBhvr>
                                        <p:cTn id="8" dur="1000" fill="hold"/>
                                        <p:tgtEl>
                                          <p:spTgt spid="2138"/>
                                        </p:tgtEl>
                                        <p:attrNameLst>
                                          <p:attrName>ppt_x</p:attrName>
                                        </p:attrNameLst>
                                      </p:cBhvr>
                                      <p:tavLst>
                                        <p:tav tm="0">
                                          <p:val>
                                            <p:strVal val="#ppt_x"/>
                                          </p:val>
                                        </p:tav>
                                        <p:tav tm="100000">
                                          <p:val>
                                            <p:strVal val="#ppt_x"/>
                                          </p:val>
                                        </p:tav>
                                      </p:tavLst>
                                    </p:anim>
                                    <p:anim calcmode="lin" valueType="num">
                                      <p:cBhvr>
                                        <p:cTn id="9" dur="1000" fill="hold"/>
                                        <p:tgtEl>
                                          <p:spTgt spid="213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140">
                                            <p:txEl>
                                              <p:pRg st="0" end="0"/>
                                            </p:txEl>
                                          </p:spTgt>
                                        </p:tgtEl>
                                        <p:attrNameLst>
                                          <p:attrName>style.visibility</p:attrName>
                                        </p:attrNameLst>
                                      </p:cBhvr>
                                      <p:to>
                                        <p:strVal val="visible"/>
                                      </p:to>
                                    </p:set>
                                    <p:animEffect transition="in" filter="fade">
                                      <p:cBhvr>
                                        <p:cTn id="14" dur="1000"/>
                                        <p:tgtEl>
                                          <p:spTgt spid="2140">
                                            <p:txEl>
                                              <p:pRg st="0" end="0"/>
                                            </p:txEl>
                                          </p:spTgt>
                                        </p:tgtEl>
                                      </p:cBhvr>
                                    </p:animEffect>
                                    <p:anim calcmode="lin" valueType="num">
                                      <p:cBhvr>
                                        <p:cTn id="15" dur="1000" fill="hold"/>
                                        <p:tgtEl>
                                          <p:spTgt spid="214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14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41">
                                            <p:txEl>
                                              <p:pRg st="0" end="0"/>
                                            </p:txEl>
                                          </p:spTgt>
                                        </p:tgtEl>
                                        <p:attrNameLst>
                                          <p:attrName>style.visibility</p:attrName>
                                        </p:attrNameLst>
                                      </p:cBhvr>
                                      <p:to>
                                        <p:strVal val="visible"/>
                                      </p:to>
                                    </p:set>
                                    <p:animEffect transition="in" filter="fade">
                                      <p:cBhvr>
                                        <p:cTn id="21" dur="1000"/>
                                        <p:tgtEl>
                                          <p:spTgt spid="2141">
                                            <p:txEl>
                                              <p:pRg st="0" end="0"/>
                                            </p:txEl>
                                          </p:spTgt>
                                        </p:tgtEl>
                                      </p:cBhvr>
                                    </p:animEffect>
                                    <p:anim calcmode="lin" valueType="num">
                                      <p:cBhvr>
                                        <p:cTn id="22" dur="1000" fill="hold"/>
                                        <p:tgtEl>
                                          <p:spTgt spid="2141">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214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143">
                                            <p:txEl>
                                              <p:pRg st="0" end="0"/>
                                            </p:txEl>
                                          </p:spTgt>
                                        </p:tgtEl>
                                        <p:attrNameLst>
                                          <p:attrName>style.visibility</p:attrName>
                                        </p:attrNameLst>
                                      </p:cBhvr>
                                      <p:to>
                                        <p:strVal val="visible"/>
                                      </p:to>
                                    </p:set>
                                    <p:animEffect transition="in" filter="fade">
                                      <p:cBhvr>
                                        <p:cTn id="28" dur="1000"/>
                                        <p:tgtEl>
                                          <p:spTgt spid="2143">
                                            <p:txEl>
                                              <p:pRg st="0" end="0"/>
                                            </p:txEl>
                                          </p:spTgt>
                                        </p:tgtEl>
                                      </p:cBhvr>
                                    </p:animEffect>
                                    <p:anim calcmode="lin" valueType="num">
                                      <p:cBhvr>
                                        <p:cTn id="29" dur="1000" fill="hold"/>
                                        <p:tgtEl>
                                          <p:spTgt spid="2143">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21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145">
                                            <p:txEl>
                                              <p:pRg st="0" end="0"/>
                                            </p:txEl>
                                          </p:spTgt>
                                        </p:tgtEl>
                                        <p:attrNameLst>
                                          <p:attrName>style.visibility</p:attrName>
                                        </p:attrNameLst>
                                      </p:cBhvr>
                                      <p:to>
                                        <p:strVal val="visible"/>
                                      </p:to>
                                    </p:set>
                                    <p:animEffect transition="in" filter="fade">
                                      <p:cBhvr>
                                        <p:cTn id="35" dur="1000"/>
                                        <p:tgtEl>
                                          <p:spTgt spid="2145">
                                            <p:txEl>
                                              <p:pRg st="0" end="0"/>
                                            </p:txEl>
                                          </p:spTgt>
                                        </p:tgtEl>
                                      </p:cBhvr>
                                    </p:animEffect>
                                    <p:anim calcmode="lin" valueType="num">
                                      <p:cBhvr>
                                        <p:cTn id="36" dur="1000" fill="hold"/>
                                        <p:tgtEl>
                                          <p:spTgt spid="2145">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214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8" grpId="0"/>
      <p:bldP spid="2140" grpId="0" build="p"/>
      <p:bldP spid="2141" grpId="0" build="p"/>
      <p:bldP spid="2143" grpId="0" build="p"/>
      <p:bldP spid="214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9973223-8C50-FB69-A6E1-F435E1FA3F80}"/>
              </a:ext>
            </a:extLst>
          </p:cNvPr>
          <p:cNvSpPr>
            <a:spLocks noGrp="1"/>
          </p:cNvSpPr>
          <p:nvPr>
            <p:ph type="subTitle" idx="1"/>
          </p:nvPr>
        </p:nvSpPr>
        <p:spPr>
          <a:xfrm>
            <a:off x="1490400" y="1200150"/>
            <a:ext cx="6282000" cy="3216546"/>
          </a:xfrm>
        </p:spPr>
        <p:txBody>
          <a:bodyPr/>
          <a:lstStyle/>
          <a:p>
            <a:pPr algn="just">
              <a:lnSpc>
                <a:spcPct val="150000"/>
              </a:lnSpc>
            </a:pPr>
            <a:r>
              <a:rPr lang="en-US" b="0" i="0" dirty="0">
                <a:solidFill>
                  <a:srgbClr val="000000"/>
                </a:solidFill>
                <a:effectLst/>
                <a:latin typeface="Arial" panose="020B0604020202020204" pitchFamily="34" charset="0"/>
              </a:rPr>
              <a:t>The NFT market is booming now. According to NFTGO statistics, at least one NFT project has launched on chain every day since May 2021. At the same time, the quality of NFT projects is varied, and investors may easily fall into the “liquidity trap”. In fact, in the world of blockchain, whether as an investor or a beginner, you can rely on data to stay away from “hearsay” and decide which NFT to buy by yourself. Analytics dashboards and reports can be created to know more about NFT. By using analytics tools to identify patterns and discrepancies, traders, builders, and collectors can gain a competitive edge in a brand new market.</a:t>
            </a:r>
            <a:endParaRPr lang="en-IN" dirty="0"/>
          </a:p>
        </p:txBody>
      </p:sp>
      <p:sp>
        <p:nvSpPr>
          <p:cNvPr id="3" name="Title 2">
            <a:extLst>
              <a:ext uri="{FF2B5EF4-FFF2-40B4-BE49-F238E27FC236}">
                <a16:creationId xmlns:a16="http://schemas.microsoft.com/office/drawing/2014/main" id="{9BAF9C65-0968-4B14-C6A6-D08AF9BBBDF8}"/>
              </a:ext>
            </a:extLst>
          </p:cNvPr>
          <p:cNvSpPr>
            <a:spLocks noGrp="1"/>
          </p:cNvSpPr>
          <p:nvPr>
            <p:ph type="title"/>
          </p:nvPr>
        </p:nvSpPr>
        <p:spPr>
          <a:xfrm>
            <a:off x="2057400" y="452503"/>
            <a:ext cx="4809600" cy="576000"/>
          </a:xfrm>
        </p:spPr>
        <p:txBody>
          <a:bodyPr/>
          <a:lstStyle/>
          <a:p>
            <a:r>
              <a:rPr lang="en-US" dirty="0"/>
              <a:t>Problem Statement</a:t>
            </a:r>
            <a:endParaRPr lang="en-IN" dirty="0"/>
          </a:p>
        </p:txBody>
      </p:sp>
    </p:spTree>
    <p:extLst>
      <p:ext uri="{BB962C8B-B14F-4D97-AF65-F5344CB8AC3E}">
        <p14:creationId xmlns:p14="http://schemas.microsoft.com/office/powerpoint/2010/main" val="146752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br>
              <a:rPr lang="en-US" sz="4800" dirty="0"/>
            </a:br>
            <a:endParaRPr sz="4700" dirty="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2157" name="Google Shape;2157;p38"/>
          <p:cNvSpPr txBox="1">
            <a:spLocks noGrp="1"/>
          </p:cNvSpPr>
          <p:nvPr>
            <p:ph type="subTitle" idx="1"/>
          </p:nvPr>
        </p:nvSpPr>
        <p:spPr>
          <a:xfrm>
            <a:off x="6781800" y="1200150"/>
            <a:ext cx="32004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latin typeface="Barlow Semi Condensed"/>
                <a:ea typeface="Barlow Semi Condensed"/>
                <a:cs typeface="Barlow Semi Condensed"/>
                <a:sym typeface="Barlow Semi Condensed"/>
              </a:rPr>
              <a:t>.</a:t>
            </a:r>
            <a:endParaRPr dirty="0">
              <a:latin typeface="Barlow Semi Condensed"/>
              <a:ea typeface="Barlow Semi Condensed"/>
              <a:cs typeface="Barlow Semi Condensed"/>
              <a:sym typeface="Barlow Semi Condensed"/>
            </a:endParaRPr>
          </a:p>
        </p:txBody>
      </p:sp>
      <p:sp>
        <p:nvSpPr>
          <p:cNvPr id="2" name="TextBox 1"/>
          <p:cNvSpPr txBox="1"/>
          <p:nvPr/>
        </p:nvSpPr>
        <p:spPr>
          <a:xfrm>
            <a:off x="3276600" y="2343150"/>
            <a:ext cx="2590800" cy="461665"/>
          </a:xfrm>
          <a:prstGeom prst="rect">
            <a:avLst/>
          </a:prstGeom>
          <a:noFill/>
        </p:spPr>
        <p:txBody>
          <a:bodyPr wrap="square" rtlCol="0">
            <a:spAutoFit/>
          </a:bodyPr>
          <a:lstStyle/>
          <a:p>
            <a:r>
              <a:rPr lang="en-US" sz="2400" b="1" dirty="0"/>
              <a:t>What is NFT’s?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732436" y="526916"/>
            <a:ext cx="1679127" cy="167912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65" name="Google Shape;2165;p39"/>
          <p:cNvSpPr txBox="1"/>
          <p:nvPr/>
        </p:nvSpPr>
        <p:spPr>
          <a:xfrm>
            <a:off x="7696200" y="1354753"/>
            <a:ext cx="1065600" cy="320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endParaRPr dirty="0">
              <a:solidFill>
                <a:schemeClr val="dk2"/>
              </a:solidFill>
              <a:latin typeface="Abel"/>
              <a:ea typeface="Abel"/>
              <a:cs typeface="Abel"/>
              <a:sym typeface="Abel"/>
            </a:endParaRPr>
          </a:p>
        </p:txBody>
      </p:sp>
      <p:sp>
        <p:nvSpPr>
          <p:cNvPr id="2177" name="Google Shape;2177;p39"/>
          <p:cNvSpPr txBox="1">
            <a:spLocks noGrp="1"/>
          </p:cNvSpPr>
          <p:nvPr>
            <p:ph type="title"/>
          </p:nvPr>
        </p:nvSpPr>
        <p:spPr>
          <a:xfrm>
            <a:off x="6019800" y="1102377"/>
            <a:ext cx="4809600" cy="576000"/>
          </a:xfrm>
          <a:prstGeom prst="rect">
            <a:avLst/>
          </a:prstGeom>
        </p:spPr>
        <p:txBody>
          <a:bodyPr spcFirstLastPara="1" wrap="square" lIns="91425" tIns="91425" rIns="91425" bIns="91425" anchor="t" anchorCtr="0">
            <a:noAutofit/>
          </a:bodyPr>
          <a:lstStyle/>
          <a:p>
            <a:r>
              <a:rPr lang="en-US" b="1" dirty="0"/>
              <a:t>.</a:t>
            </a:r>
          </a:p>
        </p:txBody>
      </p:sp>
      <p:sp>
        <p:nvSpPr>
          <p:cNvPr id="2178" name="Google Shape;2178;p39"/>
          <p:cNvSpPr txBox="1">
            <a:spLocks noGrp="1"/>
          </p:cNvSpPr>
          <p:nvPr>
            <p:ph type="subTitle" idx="1"/>
          </p:nvPr>
        </p:nvSpPr>
        <p:spPr>
          <a:xfrm>
            <a:off x="1219200" y="2430033"/>
            <a:ext cx="6629400" cy="2186551"/>
          </a:xfrm>
          <a:prstGeom prst="rect">
            <a:avLst/>
          </a:prstGeom>
        </p:spPr>
        <p:txBody>
          <a:bodyPr spcFirstLastPara="1" wrap="square" lIns="91425" tIns="91425" rIns="91425" bIns="91425" anchor="t" anchorCtr="0">
            <a:noAutofit/>
          </a:bodyPr>
          <a:lstStyle/>
          <a:p>
            <a:r>
              <a:rPr lang="en-US" sz="1600" dirty="0"/>
              <a:t>NFT means non-fungible tokens (NFTs) that are cryptographic assets are based on </a:t>
            </a:r>
            <a:r>
              <a:rPr lang="en-US" sz="1600" dirty="0">
                <a:solidFill>
                  <a:schemeClr val="bg2"/>
                </a:solidFill>
              </a:rPr>
              <a:t>blockchain technology</a:t>
            </a:r>
            <a:r>
              <a:rPr lang="en-US" sz="1600" dirty="0"/>
              <a:t>. They cannot be exchanged or traded equivalently like other cryptographic assets.</a:t>
            </a:r>
          </a:p>
          <a:p>
            <a:endParaRPr lang="en-US" sz="1800" dirty="0"/>
          </a:p>
          <a:p>
            <a:r>
              <a:rPr lang="en-US" sz="1600" dirty="0"/>
              <a:t>Anything that can be converted into a digital form can be an NFT. Everything from </a:t>
            </a:r>
            <a:r>
              <a:rPr lang="en-US" sz="1600" b="1" dirty="0"/>
              <a:t>drawings, photos, videos, GIFs, music, in-game items, selfies, and even a tweet</a:t>
            </a:r>
            <a:r>
              <a:rPr lang="en-US" sz="1600" dirty="0"/>
              <a:t> can be turned into an NFT, which can then be traded online using cryptocurrency.</a:t>
            </a:r>
          </a:p>
        </p:txBody>
      </p:sp>
      <p:pic>
        <p:nvPicPr>
          <p:cNvPr id="1026" name="Picture 2" descr="Nft logo Vectors &amp; Illustrations for Free Download | Freepi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1328" y="1039112"/>
            <a:ext cx="620874" cy="6208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178">
                                            <p:txEl>
                                              <p:pRg st="0" end="0"/>
                                            </p:txEl>
                                          </p:spTgt>
                                        </p:tgtEl>
                                        <p:attrNameLst>
                                          <p:attrName>style.visibility</p:attrName>
                                        </p:attrNameLst>
                                      </p:cBhvr>
                                      <p:to>
                                        <p:strVal val="visible"/>
                                      </p:to>
                                    </p:set>
                                    <p:animEffect transition="in" filter="barn(inVertical)">
                                      <p:cBhvr>
                                        <p:cTn id="7" dur="500"/>
                                        <p:tgtEl>
                                          <p:spTgt spid="21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178">
                                            <p:txEl>
                                              <p:pRg st="2" end="2"/>
                                            </p:txEl>
                                          </p:spTgt>
                                        </p:tgtEl>
                                        <p:attrNameLst>
                                          <p:attrName>style.visibility</p:attrName>
                                        </p:attrNameLst>
                                      </p:cBhvr>
                                      <p:to>
                                        <p:strVal val="visible"/>
                                      </p:to>
                                    </p:set>
                                    <p:animEffect transition="in" filter="barn(inVertical)">
                                      <p:cBhvr>
                                        <p:cTn id="12" dur="500"/>
                                        <p:tgtEl>
                                          <p:spTgt spid="217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514350"/>
            <a:ext cx="1226618" cy="307777"/>
          </a:xfrm>
          <a:prstGeom prst="rect">
            <a:avLst/>
          </a:prstGeom>
        </p:spPr>
        <p:txBody>
          <a:bodyPr wrap="none">
            <a:spAutoFit/>
          </a:bodyPr>
          <a:lstStyle/>
          <a:p>
            <a:r>
              <a:rPr lang="en-US" b="1" dirty="0"/>
              <a:t>Introduction</a:t>
            </a:r>
            <a:endParaRPr lang="en-US" dirty="0"/>
          </a:p>
        </p:txBody>
      </p:sp>
      <p:sp>
        <p:nvSpPr>
          <p:cNvPr id="3" name="TextBox 2"/>
          <p:cNvSpPr txBox="1"/>
          <p:nvPr/>
        </p:nvSpPr>
        <p:spPr>
          <a:xfrm>
            <a:off x="914400" y="1063582"/>
            <a:ext cx="6858000" cy="3539430"/>
          </a:xfrm>
          <a:prstGeom prst="rect">
            <a:avLst/>
          </a:prstGeom>
          <a:noFill/>
        </p:spPr>
        <p:txBody>
          <a:bodyPr wrap="square" rtlCol="0">
            <a:spAutoFit/>
          </a:bodyPr>
          <a:lstStyle/>
          <a:p>
            <a:r>
              <a:rPr lang="en-US" dirty="0"/>
              <a:t>NFTs have actually been around since 2015, but they are now experiencing a boost in popularity thanks to several factors. First, and perhaps most obviously, is the normalization and excitement of crypto-currencies and the underlying blockchain frameworks. Beyond the technology itself is the combination of fandom, the economics of royalties, and the laws of scarcity. Consumers all want to get in on the opportunity to own unique digital content and potentially hold them as a type of investment. </a:t>
            </a:r>
          </a:p>
          <a:p>
            <a:endParaRPr lang="en-US" dirty="0"/>
          </a:p>
          <a:p>
            <a:r>
              <a:rPr lang="en-US" dirty="0"/>
              <a:t>When someone buys a non-fungible token, they gain ownership of the content, but it can still make its way over the Internet. In this way, an NFT can gain popularity — the more it’s seen online, the more value it develops. When the asset is sold, the original creator gets a 10 percent cut, with the platform getting a small percentage and the current owner getting the rest of that revenue. Thus, there is potential for ongoing revenue from popular digital assets as they are bought and sold over time.   </a:t>
            </a:r>
          </a:p>
          <a:p>
            <a:endParaRPr lang="en-US" dirty="0"/>
          </a:p>
          <a:p>
            <a:endParaRPr lang="en-US" dirty="0"/>
          </a:p>
        </p:txBody>
      </p:sp>
    </p:spTree>
    <p:extLst>
      <p:ext uri="{BB962C8B-B14F-4D97-AF65-F5344CB8AC3E}">
        <p14:creationId xmlns:p14="http://schemas.microsoft.com/office/powerpoint/2010/main" val="830240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039866"/>
            <a:ext cx="6629400" cy="2031325"/>
          </a:xfrm>
          <a:prstGeom prst="rect">
            <a:avLst/>
          </a:prstGeom>
          <a:noFill/>
        </p:spPr>
        <p:txBody>
          <a:bodyPr wrap="square" rtlCol="0">
            <a:spAutoFit/>
          </a:bodyPr>
          <a:lstStyle/>
          <a:p>
            <a:r>
              <a:rPr lang="en-US" b="1" dirty="0"/>
              <a:t>What Does Non-Fungible Mean?</a:t>
            </a:r>
          </a:p>
          <a:p>
            <a:endParaRPr lang="en-US" b="1" dirty="0"/>
          </a:p>
          <a:p>
            <a:r>
              <a:rPr lang="en-US" dirty="0"/>
              <a:t>Fungibility is an economics term that describes the interchangeability of  certain goods. For example, a barrel of oil is fungible (interchangeable/indistinguishable) from any other barrel of oil. A dollar bill, likewise, is equal to any other dollar bill (or 4 quarters, etc.). Non-fungible is to render such items unique or distinguishable. For instance, if you were to take a dollar bill and have it drawn on and signed by a famous artist, it become unique - unlike all other dollar bills, and perhaps worth more than its face value.</a:t>
            </a:r>
          </a:p>
        </p:txBody>
      </p:sp>
    </p:spTree>
    <p:extLst>
      <p:ext uri="{BB962C8B-B14F-4D97-AF65-F5344CB8AC3E}">
        <p14:creationId xmlns:p14="http://schemas.microsoft.com/office/powerpoint/2010/main" val="1153944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285750"/>
            <a:ext cx="7162800" cy="4647426"/>
          </a:xfrm>
          <a:prstGeom prst="rect">
            <a:avLst/>
          </a:prstGeom>
          <a:noFill/>
        </p:spPr>
        <p:txBody>
          <a:bodyPr wrap="square" rtlCol="0">
            <a:spAutoFit/>
          </a:bodyPr>
          <a:lstStyle/>
          <a:p>
            <a:r>
              <a:rPr lang="en-US" sz="1600" b="1" dirty="0"/>
              <a:t>Key Features of NFT : </a:t>
            </a:r>
          </a:p>
          <a:p>
            <a:endParaRPr lang="en-US" b="1" dirty="0"/>
          </a:p>
          <a:p>
            <a:pPr marL="285750" indent="-285750">
              <a:buFont typeface="Arial" pitchFamily="34" charset="0"/>
              <a:buChar char="•"/>
            </a:pPr>
            <a:r>
              <a:rPr lang="en-US" dirty="0"/>
              <a:t>Digital Asset - NFT is a digital asset that represents Internet collectibles  like art, music, and games with an authentic certificate created by blockchain technology that underlies Cryptocurrency. </a:t>
            </a:r>
          </a:p>
          <a:p>
            <a:pPr marL="285750" indent="-285750">
              <a:buFont typeface="Arial" pitchFamily="34" charset="0"/>
              <a:buChar char="•"/>
            </a:pPr>
            <a:endParaRPr lang="en-US" dirty="0"/>
          </a:p>
          <a:p>
            <a:pPr marL="285750" indent="-285750">
              <a:buFont typeface="Arial" pitchFamily="34" charset="0"/>
              <a:buChar char="•"/>
            </a:pPr>
            <a:r>
              <a:rPr lang="en-US" dirty="0"/>
              <a:t>Unique - It cannot be forged or otherwise manipulated. </a:t>
            </a:r>
          </a:p>
          <a:p>
            <a:pPr marL="285750" indent="-285750">
              <a:buFont typeface="Arial" pitchFamily="34" charset="0"/>
              <a:buChar char="•"/>
            </a:pPr>
            <a:endParaRPr lang="en-US" dirty="0"/>
          </a:p>
          <a:p>
            <a:pPr marL="285750" indent="-285750">
              <a:buFont typeface="Arial" pitchFamily="34" charset="0"/>
              <a:buChar char="•"/>
            </a:pPr>
            <a:r>
              <a:rPr lang="en-US" dirty="0"/>
              <a:t>Exchange - NFT exchanges take place with cryptocurrencies such as Bitcoin on specialist sites.</a:t>
            </a:r>
          </a:p>
          <a:p>
            <a:pPr marL="285750" indent="-285750">
              <a:buFont typeface="Arial" pitchFamily="34" charset="0"/>
              <a:buChar char="•"/>
            </a:pPr>
            <a:endParaRPr lang="en-US" dirty="0"/>
          </a:p>
          <a:p>
            <a:pPr marL="285750" indent="-285750">
              <a:buFont typeface="Arial" pitchFamily="34" charset="0"/>
              <a:buChar char="•"/>
            </a:pPr>
            <a:r>
              <a:rPr lang="en-US" dirty="0"/>
              <a:t>NFT means non-fungible tokens (NFTs), which are generally created using the same type of programming used for </a:t>
            </a:r>
            <a:r>
              <a:rPr lang="en-US" dirty="0">
                <a:hlinkClick r:id="rId2" tooltip="cryptocurrencies"/>
              </a:rPr>
              <a:t>crypto-currencies</a:t>
            </a:r>
            <a:r>
              <a:rPr lang="en-US" dirty="0"/>
              <a:t>. In simple terms these cryptographic assets are based on </a:t>
            </a:r>
            <a:r>
              <a:rPr lang="en-US" dirty="0">
                <a:hlinkClick r:id="rId3" tooltip="blockchain technology"/>
              </a:rPr>
              <a:t>blockchain technology</a:t>
            </a:r>
            <a:r>
              <a:rPr lang="en-US" dirty="0"/>
              <a:t>. </a:t>
            </a:r>
          </a:p>
          <a:p>
            <a:pPr marL="285750" indent="-285750">
              <a:buFont typeface="Arial" pitchFamily="34" charset="0"/>
              <a:buChar char="•"/>
            </a:pPr>
            <a:endParaRPr lang="en-US" dirty="0"/>
          </a:p>
          <a:p>
            <a:pPr marL="285750" indent="-285750">
              <a:buFont typeface="Arial" pitchFamily="34" charset="0"/>
              <a:buChar char="•"/>
            </a:pPr>
            <a:r>
              <a:rPr lang="en-US" dirty="0"/>
              <a:t>They cannot be exchanged or traded equivalently like other cryptographic assets.</a:t>
            </a:r>
          </a:p>
          <a:p>
            <a:pPr marL="285750" indent="-285750">
              <a:buFont typeface="Arial" pitchFamily="34" charset="0"/>
              <a:buChar char="•"/>
            </a:pPr>
            <a:endParaRPr lang="en-US" dirty="0"/>
          </a:p>
          <a:p>
            <a:pPr marL="285750" indent="-285750">
              <a:buFont typeface="Arial" pitchFamily="34" charset="0"/>
              <a:buChar char="•"/>
            </a:pPr>
            <a:r>
              <a:rPr lang="en-US" dirty="0"/>
              <a:t>NFT stands for a non-fungible token, which means it can neither be replaced nor interchanged because it has unique properties.</a:t>
            </a:r>
          </a:p>
          <a:p>
            <a:r>
              <a:rPr lang="en-US" dirty="0"/>
              <a:t> </a:t>
            </a:r>
          </a:p>
          <a:p>
            <a:endParaRPr lang="en-US" dirty="0"/>
          </a:p>
        </p:txBody>
      </p:sp>
    </p:spTree>
    <p:extLst>
      <p:ext uri="{BB962C8B-B14F-4D97-AF65-F5344CB8AC3E}">
        <p14:creationId xmlns:p14="http://schemas.microsoft.com/office/powerpoint/2010/main" val="3074846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br>
              <a:rPr lang="en-US" sz="4800" dirty="0"/>
            </a:br>
            <a:endParaRPr sz="4700" dirty="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2157" name="Google Shape;2157;p38"/>
          <p:cNvSpPr txBox="1">
            <a:spLocks noGrp="1"/>
          </p:cNvSpPr>
          <p:nvPr>
            <p:ph type="subTitle" idx="1"/>
          </p:nvPr>
        </p:nvSpPr>
        <p:spPr>
          <a:xfrm>
            <a:off x="6781800" y="1200150"/>
            <a:ext cx="32004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latin typeface="Barlow Semi Condensed"/>
                <a:ea typeface="Barlow Semi Condensed"/>
                <a:cs typeface="Barlow Semi Condensed"/>
                <a:sym typeface="Barlow Semi Condensed"/>
              </a:rPr>
              <a:t>.</a:t>
            </a:r>
            <a:endParaRPr dirty="0">
              <a:latin typeface="Barlow Semi Condensed"/>
              <a:ea typeface="Barlow Semi Condensed"/>
              <a:cs typeface="Barlow Semi Condensed"/>
              <a:sym typeface="Barlow Semi Condensed"/>
            </a:endParaRPr>
          </a:p>
        </p:txBody>
      </p:sp>
      <p:sp>
        <p:nvSpPr>
          <p:cNvPr id="2" name="TextBox 1"/>
          <p:cNvSpPr txBox="1"/>
          <p:nvPr/>
        </p:nvSpPr>
        <p:spPr>
          <a:xfrm>
            <a:off x="2362200" y="2392985"/>
            <a:ext cx="4724400" cy="480901"/>
          </a:xfrm>
          <a:prstGeom prst="rect">
            <a:avLst/>
          </a:prstGeom>
          <a:noFill/>
        </p:spPr>
        <p:txBody>
          <a:bodyPr wrap="square" rtlCol="0">
            <a:spAutoFit/>
          </a:bodyPr>
          <a:lstStyle/>
          <a:p>
            <a:pPr lvl="0">
              <a:lnSpc>
                <a:spcPct val="115000"/>
              </a:lnSpc>
            </a:pPr>
            <a:r>
              <a:rPr lang="en-IN" sz="2400" dirty="0"/>
              <a:t>NFT Sales Analytics Dashboard</a:t>
            </a:r>
          </a:p>
        </p:txBody>
      </p:sp>
    </p:spTree>
    <p:extLst>
      <p:ext uri="{BB962C8B-B14F-4D97-AF65-F5344CB8AC3E}">
        <p14:creationId xmlns:p14="http://schemas.microsoft.com/office/powerpoint/2010/main" val="114385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802035"/>
            <a:ext cx="7467600" cy="3323987"/>
          </a:xfrm>
          <a:prstGeom prst="rect">
            <a:avLst/>
          </a:prstGeom>
          <a:noFill/>
        </p:spPr>
        <p:txBody>
          <a:bodyPr wrap="square" rtlCol="0">
            <a:spAutoFit/>
          </a:bodyPr>
          <a:lstStyle/>
          <a:p>
            <a:endParaRPr lang="en-US" dirty="0"/>
          </a:p>
          <a:p>
            <a:r>
              <a:rPr lang="en-US" dirty="0"/>
              <a:t>The Market Overview NFT data analytics dashboard provides a rundown of the NFT collections and the fluctuations in their floor price. This allows investors to track trends within the NFT sphere and gauge the general sentiment. </a:t>
            </a:r>
          </a:p>
          <a:p>
            <a:endParaRPr lang="en-US" dirty="0"/>
          </a:p>
          <a:p>
            <a:r>
              <a:rPr lang="en-US" dirty="0"/>
              <a:t>This dashboard facilitates trend trading, where investors utilize Nansen’s collection analytics to trade alongside momentum. The application will be capable of performing the following functions. </a:t>
            </a:r>
          </a:p>
          <a:p>
            <a:endParaRPr lang="en-US" dirty="0"/>
          </a:p>
          <a:p>
            <a:pPr marL="285750" indent="-285750">
              <a:buFont typeface="Arial" panose="020B0604020202020204" pitchFamily="34" charset="0"/>
              <a:buChar char="•"/>
            </a:pPr>
            <a:r>
              <a:rPr lang="en-US" dirty="0"/>
              <a:t>Provide Authentication for General User through Sign Up Page and Login Page.</a:t>
            </a:r>
          </a:p>
          <a:p>
            <a:pPr marL="285750" indent="-285750">
              <a:buFont typeface="Arial" panose="020B0604020202020204" pitchFamily="34" charset="0"/>
              <a:buChar char="•"/>
            </a:pPr>
            <a:r>
              <a:rPr lang="en-US" dirty="0"/>
              <a:t>Dashboard page where users can see the Trending NFTs, Recently Added NFTs, with various functionalities like searching, sorting, filters on Genres, Categories etc. for quickly accessing the NFTs  </a:t>
            </a:r>
          </a:p>
          <a:p>
            <a:pPr marL="285750" indent="-285750">
              <a:buFont typeface="Arial" panose="020B0604020202020204" pitchFamily="34" charset="0"/>
              <a:buChar char="•"/>
            </a:pPr>
            <a:r>
              <a:rPr lang="en-US" dirty="0"/>
              <a:t>NFT page where users can see list of NFTs along with their properties.</a:t>
            </a:r>
          </a:p>
          <a:p>
            <a:pPr marL="285750" indent="-285750">
              <a:buFont typeface="Arial" panose="020B0604020202020204" pitchFamily="34" charset="0"/>
              <a:buChar char="•"/>
            </a:pPr>
            <a:r>
              <a:rPr lang="en-US" dirty="0"/>
              <a:t>Collection page where users can see list of Collections along with different attributes. </a:t>
            </a:r>
          </a:p>
        </p:txBody>
      </p:sp>
    </p:spTree>
    <p:extLst>
      <p:ext uri="{BB962C8B-B14F-4D97-AF65-F5344CB8AC3E}">
        <p14:creationId xmlns:p14="http://schemas.microsoft.com/office/powerpoint/2010/main" val="408241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14350"/>
            <a:ext cx="5257800" cy="400110"/>
          </a:xfrm>
          <a:prstGeom prst="rect">
            <a:avLst/>
          </a:prstGeom>
          <a:noFill/>
        </p:spPr>
        <p:txBody>
          <a:bodyPr wrap="square" rtlCol="0">
            <a:spAutoFit/>
          </a:bodyPr>
          <a:lstStyle/>
          <a:p>
            <a:r>
              <a:rPr lang="en-US" sz="2000" b="1" dirty="0"/>
              <a:t>Features of NFT Dashboard</a:t>
            </a:r>
          </a:p>
        </p:txBody>
      </p:sp>
      <p:sp>
        <p:nvSpPr>
          <p:cNvPr id="3" name="TextBox 2">
            <a:extLst>
              <a:ext uri="{FF2B5EF4-FFF2-40B4-BE49-F238E27FC236}">
                <a16:creationId xmlns:a16="http://schemas.microsoft.com/office/drawing/2014/main" id="{EC20EBF8-9D02-2CE5-B2D6-292EADC7C893}"/>
              </a:ext>
            </a:extLst>
          </p:cNvPr>
          <p:cNvSpPr txBox="1"/>
          <p:nvPr/>
        </p:nvSpPr>
        <p:spPr>
          <a:xfrm>
            <a:off x="685800" y="1556087"/>
            <a:ext cx="7315200" cy="2031325"/>
          </a:xfrm>
          <a:prstGeom prst="rect">
            <a:avLst/>
          </a:prstGeom>
          <a:noFill/>
        </p:spPr>
        <p:txBody>
          <a:bodyPr wrap="square" rtlCol="0">
            <a:spAutoFit/>
          </a:bodyPr>
          <a:lstStyle/>
          <a:p>
            <a:r>
              <a:rPr lang="en-US" dirty="0"/>
              <a:t>The objective of this solution is to create dashboard that can visualize NFT Data and grab insights from it that can help buyers as well as Sellers.</a:t>
            </a:r>
          </a:p>
          <a:p>
            <a:endParaRPr lang="en-US" dirty="0"/>
          </a:p>
          <a:p>
            <a:pPr marL="285750" indent="-285750">
              <a:buFont typeface="Arial" panose="020B0604020202020204" pitchFamily="34" charset="0"/>
              <a:buChar char="•"/>
            </a:pPr>
            <a:r>
              <a:rPr lang="en-US" dirty="0"/>
              <a:t>It allows to analyze the sales, transactions, price value of various NFT’s markets.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allows you to check NFT analytics based on different categories like animals, arts, music etc.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shows the likeliness of buying an NFT from a collection.</a:t>
            </a:r>
          </a:p>
        </p:txBody>
      </p:sp>
    </p:spTree>
    <p:extLst>
      <p:ext uri="{BB962C8B-B14F-4D97-AF65-F5344CB8AC3E}">
        <p14:creationId xmlns:p14="http://schemas.microsoft.com/office/powerpoint/2010/main" val="248023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61950"/>
            <a:ext cx="2305439" cy="338554"/>
          </a:xfrm>
          <a:prstGeom prst="rect">
            <a:avLst/>
          </a:prstGeom>
        </p:spPr>
        <p:txBody>
          <a:bodyPr wrap="none">
            <a:spAutoFit/>
          </a:bodyPr>
          <a:lstStyle/>
          <a:p>
            <a:r>
              <a:rPr lang="en-US" sz="1600" b="1" dirty="0"/>
              <a:t>Technology Of Trade:</a:t>
            </a:r>
          </a:p>
        </p:txBody>
      </p:sp>
      <p:sp>
        <p:nvSpPr>
          <p:cNvPr id="3" name="TextBox 2"/>
          <p:cNvSpPr txBox="1"/>
          <p:nvPr/>
        </p:nvSpPr>
        <p:spPr>
          <a:xfrm>
            <a:off x="457200" y="895350"/>
            <a:ext cx="7315200" cy="3539430"/>
          </a:xfrm>
          <a:prstGeom prst="rect">
            <a:avLst/>
          </a:prstGeom>
          <a:noFill/>
        </p:spPr>
        <p:txBody>
          <a:bodyPr wrap="square" rtlCol="0">
            <a:spAutoFit/>
          </a:bodyPr>
          <a:lstStyle/>
          <a:p>
            <a:pPr marL="285750" indent="-285750">
              <a:buFont typeface="Arial" pitchFamily="34" charset="0"/>
              <a:buChar char="•"/>
            </a:pPr>
            <a:r>
              <a:rPr lang="en-US" dirty="0"/>
              <a:t>The technology allows transactions to be simultaneously anonymous and secure, peer-to-peer, instant and frictionless.</a:t>
            </a:r>
          </a:p>
          <a:p>
            <a:endParaRPr lang="en-US" dirty="0"/>
          </a:p>
          <a:p>
            <a:pPr marL="285750" indent="-285750">
              <a:buFont typeface="Arial" pitchFamily="34" charset="0"/>
              <a:buChar char="•"/>
            </a:pPr>
            <a:r>
              <a:rPr lang="en-US" dirty="0"/>
              <a:t>It does this by distributing trust from powerful intermediaries to a large global network, which through mass collaboration, clever code and cryptography, enables a tamper-proof public ledger of every transaction that’s ever happened on the network.</a:t>
            </a:r>
          </a:p>
          <a:p>
            <a:endParaRPr lang="en-US" dirty="0"/>
          </a:p>
          <a:p>
            <a:pPr marL="285750" indent="-285750">
              <a:buFont typeface="Arial" pitchFamily="34" charset="0"/>
              <a:buChar char="•"/>
            </a:pPr>
            <a:r>
              <a:rPr lang="en-US" dirty="0"/>
              <a:t>A block is the “current” part of a blockchain which records some or all of the recent transactions, and once completed, goes into the blockchain as permanent database.</a:t>
            </a:r>
          </a:p>
          <a:p>
            <a:endParaRPr lang="en-US" dirty="0"/>
          </a:p>
          <a:p>
            <a:pPr marL="285750" indent="-285750">
              <a:buFont typeface="Arial" pitchFamily="34" charset="0"/>
              <a:buChar char="•"/>
            </a:pPr>
            <a:r>
              <a:rPr lang="en-US" dirty="0"/>
              <a:t>Each time a block gets completed, a new block is generated. Blocks are linked to each other (like a chain) in proper linear, chronological order with every block containing a hash of the previous block.</a:t>
            </a:r>
          </a:p>
          <a:p>
            <a:r>
              <a:rPr lang="en-US" dirty="0"/>
              <a:t> </a:t>
            </a:r>
          </a:p>
          <a:p>
            <a:endParaRPr lang="en-US" dirty="0"/>
          </a:p>
          <a:p>
            <a:endParaRPr lang="en-US" dirty="0"/>
          </a:p>
        </p:txBody>
      </p:sp>
    </p:spTree>
    <p:extLst>
      <p:ext uri="{BB962C8B-B14F-4D97-AF65-F5344CB8AC3E}">
        <p14:creationId xmlns:p14="http://schemas.microsoft.com/office/powerpoint/2010/main" val="401459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br>
              <a:rPr lang="en-US" sz="4800" dirty="0"/>
            </a:br>
            <a:endParaRPr sz="4700" dirty="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2157" name="Google Shape;2157;p38"/>
          <p:cNvSpPr txBox="1">
            <a:spLocks noGrp="1"/>
          </p:cNvSpPr>
          <p:nvPr>
            <p:ph type="subTitle" idx="1"/>
          </p:nvPr>
        </p:nvSpPr>
        <p:spPr>
          <a:xfrm>
            <a:off x="6781800" y="1200150"/>
            <a:ext cx="32004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latin typeface="Barlow Semi Condensed"/>
                <a:ea typeface="Barlow Semi Condensed"/>
                <a:cs typeface="Barlow Semi Condensed"/>
                <a:sym typeface="Barlow Semi Condensed"/>
              </a:rPr>
              <a:t>.</a:t>
            </a:r>
            <a:endParaRPr dirty="0">
              <a:latin typeface="Barlow Semi Condensed"/>
              <a:ea typeface="Barlow Semi Condensed"/>
              <a:cs typeface="Barlow Semi Condensed"/>
              <a:sym typeface="Barlow Semi Condensed"/>
            </a:endParaRPr>
          </a:p>
        </p:txBody>
      </p:sp>
      <p:sp>
        <p:nvSpPr>
          <p:cNvPr id="2" name="TextBox 1"/>
          <p:cNvSpPr txBox="1"/>
          <p:nvPr/>
        </p:nvSpPr>
        <p:spPr>
          <a:xfrm>
            <a:off x="2895600" y="2495549"/>
            <a:ext cx="3581400" cy="830997"/>
          </a:xfrm>
          <a:prstGeom prst="rect">
            <a:avLst/>
          </a:prstGeom>
          <a:noFill/>
        </p:spPr>
        <p:txBody>
          <a:bodyPr wrap="square" rtlCol="0">
            <a:spAutoFit/>
          </a:bodyPr>
          <a:lstStyle/>
          <a:p>
            <a:pPr algn="ctr"/>
            <a:r>
              <a:rPr lang="en-US" sz="2400" b="1" dirty="0"/>
              <a:t>Tools and Technologies Used</a:t>
            </a:r>
          </a:p>
        </p:txBody>
      </p:sp>
    </p:spTree>
    <p:extLst>
      <p:ext uri="{BB962C8B-B14F-4D97-AF65-F5344CB8AC3E}">
        <p14:creationId xmlns:p14="http://schemas.microsoft.com/office/powerpoint/2010/main" val="386296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19150"/>
            <a:ext cx="8001000" cy="3170099"/>
          </a:xfrm>
          <a:prstGeom prst="rect">
            <a:avLst/>
          </a:prstGeom>
          <a:noFill/>
        </p:spPr>
        <p:txBody>
          <a:bodyPr wrap="square" rtlCol="0">
            <a:spAutoFit/>
          </a:bodyPr>
          <a:lstStyle/>
          <a:p>
            <a:r>
              <a:rPr lang="en-US" sz="2000" b="1" dirty="0"/>
              <a:t>Technology Stack</a:t>
            </a:r>
          </a:p>
          <a:p>
            <a:endParaRPr lang="en-US" sz="2000" b="1" dirty="0"/>
          </a:p>
          <a:p>
            <a:endParaRPr lang="en-US" sz="2000" b="1" dirty="0"/>
          </a:p>
          <a:p>
            <a:endParaRPr lang="en-US" b="1" dirty="0"/>
          </a:p>
          <a:p>
            <a:r>
              <a:rPr lang="en-US" dirty="0"/>
              <a:t>The Primary Stack would be MERN Stack. </a:t>
            </a:r>
          </a:p>
          <a:p>
            <a:endParaRPr lang="en-US" dirty="0"/>
          </a:p>
          <a:p>
            <a:pPr marL="285750" indent="-285750">
              <a:buFont typeface="Arial" panose="020B0604020202020204" pitchFamily="34" charset="0"/>
              <a:buChar char="•"/>
            </a:pPr>
            <a:r>
              <a:rPr lang="en-US" b="1" dirty="0"/>
              <a:t>React-</a:t>
            </a:r>
            <a:r>
              <a:rPr lang="en-US" b="1" dirty="0" err="1"/>
              <a:t>Js</a:t>
            </a:r>
            <a:r>
              <a:rPr lang="en-US" dirty="0"/>
              <a:t> is used for developing user interfaces for the project. </a:t>
            </a:r>
          </a:p>
          <a:p>
            <a:pPr marL="285750" indent="-285750">
              <a:buFont typeface="Arial" panose="020B0604020202020204" pitchFamily="34" charset="0"/>
              <a:buChar char="•"/>
            </a:pPr>
            <a:r>
              <a:rPr lang="en-US" b="1" dirty="0"/>
              <a:t>Node-</a:t>
            </a:r>
            <a:r>
              <a:rPr lang="en-US" b="1" dirty="0" err="1"/>
              <a:t>Js</a:t>
            </a:r>
            <a:r>
              <a:rPr lang="en-US" dirty="0"/>
              <a:t> is used to handle backend site of the project making various API’s for providing relevant data to various request. </a:t>
            </a:r>
          </a:p>
          <a:p>
            <a:pPr marL="285750" indent="-285750">
              <a:buFont typeface="Arial" panose="020B0604020202020204" pitchFamily="34" charset="0"/>
              <a:buChar char="•"/>
            </a:pPr>
            <a:r>
              <a:rPr lang="en-US" b="1" dirty="0" err="1"/>
              <a:t>MongoDb</a:t>
            </a:r>
            <a:r>
              <a:rPr lang="en-US" dirty="0"/>
              <a:t> is used for storing data regarding various NFT tokens and their collections, transactions, sales and prices. </a:t>
            </a:r>
          </a:p>
          <a:p>
            <a:pPr marL="285750" indent="-285750">
              <a:buFont typeface="Arial" panose="020B0604020202020204" pitchFamily="34" charset="0"/>
              <a:buChar char="•"/>
            </a:pPr>
            <a:r>
              <a:rPr lang="en-US" b="1" dirty="0" err="1"/>
              <a:t>Javascript</a:t>
            </a:r>
            <a:r>
              <a:rPr lang="en-US" dirty="0"/>
              <a:t> is used for providing frontend dynamics to the project.</a:t>
            </a:r>
            <a:endParaRPr lang="en-US" b="1" dirty="0"/>
          </a:p>
          <a:p>
            <a:endParaRPr lang="en-US" dirty="0"/>
          </a:p>
        </p:txBody>
      </p:sp>
    </p:spTree>
    <p:extLst>
      <p:ext uri="{BB962C8B-B14F-4D97-AF65-F5344CB8AC3E}">
        <p14:creationId xmlns:p14="http://schemas.microsoft.com/office/powerpoint/2010/main" val="252894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br>
              <a:rPr lang="en-US" sz="4800" dirty="0"/>
            </a:br>
            <a:endParaRPr sz="4700" dirty="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2157" name="Google Shape;2157;p38"/>
          <p:cNvSpPr txBox="1">
            <a:spLocks noGrp="1"/>
          </p:cNvSpPr>
          <p:nvPr>
            <p:ph type="subTitle" idx="1"/>
          </p:nvPr>
        </p:nvSpPr>
        <p:spPr>
          <a:xfrm>
            <a:off x="6781800" y="1200150"/>
            <a:ext cx="3200400" cy="68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latin typeface="Barlow Semi Condensed"/>
                <a:ea typeface="Barlow Semi Condensed"/>
                <a:cs typeface="Barlow Semi Condensed"/>
                <a:sym typeface="Barlow Semi Condensed"/>
              </a:rPr>
              <a:t>.</a:t>
            </a:r>
            <a:endParaRPr dirty="0">
              <a:latin typeface="Barlow Semi Condensed"/>
              <a:ea typeface="Barlow Semi Condensed"/>
              <a:cs typeface="Barlow Semi Condensed"/>
              <a:sym typeface="Barlow Semi Condensed"/>
            </a:endParaRPr>
          </a:p>
        </p:txBody>
      </p:sp>
      <p:sp>
        <p:nvSpPr>
          <p:cNvPr id="2" name="TextBox 1"/>
          <p:cNvSpPr txBox="1"/>
          <p:nvPr/>
        </p:nvSpPr>
        <p:spPr>
          <a:xfrm>
            <a:off x="2895600" y="2495549"/>
            <a:ext cx="3276600" cy="830997"/>
          </a:xfrm>
          <a:prstGeom prst="rect">
            <a:avLst/>
          </a:prstGeom>
          <a:noFill/>
        </p:spPr>
        <p:txBody>
          <a:bodyPr wrap="square" rtlCol="0">
            <a:spAutoFit/>
          </a:bodyPr>
          <a:lstStyle/>
          <a:p>
            <a:pPr algn="ctr"/>
            <a:r>
              <a:rPr lang="en-US" sz="2400" b="1" dirty="0"/>
              <a:t>Way Forward and Future Scope</a:t>
            </a:r>
          </a:p>
        </p:txBody>
      </p:sp>
    </p:spTree>
    <p:extLst>
      <p:ext uri="{BB962C8B-B14F-4D97-AF65-F5344CB8AC3E}">
        <p14:creationId xmlns:p14="http://schemas.microsoft.com/office/powerpoint/2010/main" val="427195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67000" y="438150"/>
            <a:ext cx="3200400" cy="400110"/>
          </a:xfrm>
          <a:prstGeom prst="rect">
            <a:avLst/>
          </a:prstGeom>
          <a:noFill/>
        </p:spPr>
        <p:txBody>
          <a:bodyPr wrap="square" rtlCol="0">
            <a:spAutoFit/>
          </a:bodyPr>
          <a:lstStyle/>
          <a:p>
            <a:pPr algn="ctr"/>
            <a:r>
              <a:rPr lang="en-US" sz="2000" b="1" dirty="0"/>
              <a:t>Future of our project</a:t>
            </a:r>
          </a:p>
        </p:txBody>
      </p:sp>
      <p:sp>
        <p:nvSpPr>
          <p:cNvPr id="3" name="TextBox 2"/>
          <p:cNvSpPr txBox="1"/>
          <p:nvPr/>
        </p:nvSpPr>
        <p:spPr>
          <a:xfrm>
            <a:off x="609600" y="1244359"/>
            <a:ext cx="7239000" cy="2462213"/>
          </a:xfrm>
          <a:prstGeom prst="rect">
            <a:avLst/>
          </a:prstGeom>
          <a:noFill/>
        </p:spPr>
        <p:txBody>
          <a:bodyPr wrap="square" rtlCol="0">
            <a:spAutoFit/>
          </a:bodyPr>
          <a:lstStyle/>
          <a:p>
            <a:r>
              <a:rPr lang="en-US" dirty="0"/>
              <a:t>The future scope of an NFT (Non-Fungible Token) sales analytics dashboard is quite promising. Some potential areas of growth and opportunities for an NFT sales analytics dashboard: </a:t>
            </a:r>
          </a:p>
          <a:p>
            <a:endParaRPr lang="en-US" dirty="0"/>
          </a:p>
          <a:p>
            <a:r>
              <a:rPr lang="en-US" dirty="0"/>
              <a:t>• Market Trends and Performance </a:t>
            </a:r>
          </a:p>
          <a:p>
            <a:r>
              <a:rPr lang="en-US" dirty="0"/>
              <a:t>• Asset Valuation and Pricing </a:t>
            </a:r>
          </a:p>
          <a:p>
            <a:r>
              <a:rPr lang="en-US" dirty="0"/>
              <a:t>• Portfolio Management </a:t>
            </a:r>
          </a:p>
          <a:p>
            <a:r>
              <a:rPr lang="en-US" dirty="0"/>
              <a:t>• Artist Insights </a:t>
            </a:r>
          </a:p>
          <a:p>
            <a:r>
              <a:rPr lang="en-US" dirty="0"/>
              <a:t>• Comparative Analysis </a:t>
            </a:r>
          </a:p>
          <a:p>
            <a:r>
              <a:rPr lang="en-US" dirty="0"/>
              <a:t>• Market Predictions and Forecasting </a:t>
            </a:r>
          </a:p>
          <a:p>
            <a:r>
              <a:rPr lang="en-US" dirty="0"/>
              <a:t>• Regulatory Compliance Overall</a:t>
            </a:r>
          </a:p>
        </p:txBody>
      </p:sp>
    </p:spTree>
    <p:extLst>
      <p:ext uri="{BB962C8B-B14F-4D97-AF65-F5344CB8AC3E}">
        <p14:creationId xmlns:p14="http://schemas.microsoft.com/office/powerpoint/2010/main" val="73803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047750"/>
            <a:ext cx="7162800" cy="2677656"/>
          </a:xfrm>
          <a:prstGeom prst="rect">
            <a:avLst/>
          </a:prstGeom>
          <a:noFill/>
        </p:spPr>
        <p:txBody>
          <a:bodyPr wrap="square" rtlCol="0">
            <a:spAutoFit/>
          </a:bodyPr>
          <a:lstStyle/>
          <a:p>
            <a:r>
              <a:rPr lang="en-US" b="1" dirty="0"/>
              <a:t>Conclusion</a:t>
            </a:r>
          </a:p>
          <a:p>
            <a:endParaRPr lang="en-US" b="1" dirty="0"/>
          </a:p>
          <a:p>
            <a:r>
              <a:rPr lang="en-US" dirty="0"/>
              <a:t>There are a number of risks involved in investing in NFTs, including the risk that the value of NFTs could be impacted by a variety of factors, the risk that an investor could lose their entire investment, and the risk associated with holding and trading NFTs on exchanges. Investors should do their own research to understand these risks before deciding to invest in NFTs. Disclaimer: The information provided in this article is solely the author’s opinion and not investment advice – it is provided for educational purposes only. By using this, you agree that the information does not constitute any investment or financial instructions. Do conduct your own research and reach out to financial advisors before making any investment decisions.</a:t>
            </a:r>
            <a:br>
              <a:rPr lang="en-US" dirty="0"/>
            </a:br>
            <a:endParaRPr lang="en-US" dirty="0"/>
          </a:p>
        </p:txBody>
      </p:sp>
    </p:spTree>
    <p:extLst>
      <p:ext uri="{BB962C8B-B14F-4D97-AF65-F5344CB8AC3E}">
        <p14:creationId xmlns:p14="http://schemas.microsoft.com/office/powerpoint/2010/main" val="312939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76600" y="2042028"/>
            <a:ext cx="3886200" cy="584775"/>
          </a:xfrm>
          <a:prstGeom prst="rect">
            <a:avLst/>
          </a:prstGeom>
          <a:noFill/>
        </p:spPr>
        <p:txBody>
          <a:bodyPr wrap="square" rtlCol="0">
            <a:spAutoFit/>
          </a:bodyPr>
          <a:lstStyle/>
          <a:p>
            <a:r>
              <a:rPr lang="en-US" sz="3200" dirty="0"/>
              <a:t>Thank You</a:t>
            </a:r>
          </a:p>
        </p:txBody>
      </p:sp>
    </p:spTree>
    <p:extLst>
      <p:ext uri="{BB962C8B-B14F-4D97-AF65-F5344CB8AC3E}">
        <p14:creationId xmlns:p14="http://schemas.microsoft.com/office/powerpoint/2010/main" val="281556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574</TotalTime>
  <Words>1416</Words>
  <Application>Microsoft Office PowerPoint</Application>
  <PresentationFormat>On-screen Show (16:9)</PresentationFormat>
  <Paragraphs>122</Paragraphs>
  <Slides>19</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Barlow Semi Condensed</vt:lpstr>
      <vt:lpstr>Fjalla One</vt:lpstr>
      <vt:lpstr>Abel</vt:lpstr>
      <vt:lpstr>Barlow Semi Condensed Medium</vt:lpstr>
      <vt:lpstr>Arial</vt:lpstr>
      <vt:lpstr>Calibri</vt:lpstr>
      <vt:lpstr>Bookman Old Style</vt:lpstr>
      <vt:lpstr>Technology Consulting by Slidesgo</vt:lpstr>
      <vt:lpstr>NFT Sales Analytics  Dashboard</vt:lpstr>
      <vt:lpstr>NFT Sales Analytics Dashboard  Department of Information Technology Swami Keshvanand Institute of Technology, Management &amp; Gramothan, Jaipur Rajasthan Technical University, Kota Session 2022-23</vt:lpstr>
      <vt:lpstr>Table of Contents</vt:lpstr>
      <vt:lpstr>Problem Statement</vt:lpstr>
      <vt:lpstr> </vt:lpstr>
      <vt:lpstr>.</vt:lpstr>
      <vt:lpstr>PowerPoint Presentation</vt:lpstr>
      <vt:lpstr>PowerPoint Presentation</vt:lpstr>
      <vt:lpstr>PowerPoint Presentation</vt:lpstr>
      <vt:lpstr> </vt:lpstr>
      <vt:lpstr>PowerPoint Presentation</vt:lpstr>
      <vt:lpstr>PowerPoint Presentation</vt:lpstr>
      <vt:lpstr>PowerPoint Presentation</vt:lpstr>
      <vt:lpstr> </vt:lpstr>
      <vt:lpstr>PowerPoint Presentation</vt:lpstr>
      <vt:lpstr>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Fungible Token(NFT)</dc:title>
  <cp:lastModifiedBy>karan sabnani</cp:lastModifiedBy>
  <cp:revision>23</cp:revision>
  <dcterms:modified xsi:type="dcterms:W3CDTF">2023-06-02T04:21:32Z</dcterms:modified>
</cp:coreProperties>
</file>